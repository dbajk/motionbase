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9027C-C997-4BA0-B63D-D7FBE6014C7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6851F-B438-45E0-957B-C3B806234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41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[00:00-00:10] </a:t>
            </a:r>
            <a:r>
              <a:rPr lang="ko-KR" altLang="en-US">
                <a:latin typeface="맑은 고딕" panose="020B0503020000020004" pitchFamily="50" charset="-127"/>
              </a:rPr>
              <a:t>표지 </a:t>
            </a:r>
            <a:r>
              <a:rPr lang="en-US" altLang="ko-KR">
                <a:latin typeface="맑은 고딕" panose="020B0503020000020004" pitchFamily="50" charset="-127"/>
              </a:rPr>
              <a:t>· 10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야구를 하려면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지금까지는 헤드셋을 써야 했습니다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  (1</a:t>
            </a:r>
            <a:r>
              <a:rPr lang="ko-KR" altLang="en-US">
                <a:latin typeface="맑은 고딕" panose="020B0503020000020004" pitchFamily="50" charset="-127"/>
              </a:rPr>
              <a:t>초 쉼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저희는 그걸 벗겼습니다</a:t>
            </a:r>
            <a:r>
              <a:rPr lang="en-US" altLang="ko-KR">
                <a:latin typeface="맑은 고딕" panose="020B0503020000020004" pitchFamily="50" charset="-127"/>
              </a:rPr>
              <a:t>. SporTrack : Baseball, </a:t>
            </a:r>
            <a:r>
              <a:rPr lang="ko-KR" altLang="en-US">
                <a:latin typeface="맑은 고딕" panose="020B0503020000020004" pitchFamily="50" charset="-127"/>
              </a:rPr>
              <a:t>팀 </a:t>
            </a:r>
            <a:r>
              <a:rPr lang="en-US" altLang="ko-KR">
                <a:latin typeface="맑은 고딕" panose="020B0503020000020004" pitchFamily="50" charset="-127"/>
              </a:rPr>
              <a:t>MotionBase</a:t>
            </a:r>
            <a:r>
              <a:rPr lang="ko-KR" altLang="en-US">
                <a:latin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낮고 천천히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첫 문장 뒤 쉼을 반드시 줄 것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전환</a:t>
            </a:r>
            <a:r>
              <a:rPr lang="en-US" altLang="ko-KR">
                <a:latin typeface="맑은 고딕" panose="020B0503020000020004" pitchFamily="50" charset="-127"/>
              </a:rPr>
              <a:t>] "</a:t>
            </a:r>
            <a:r>
              <a:rPr lang="ko-KR" altLang="en-US">
                <a:latin typeface="맑은 고딕" panose="020B0503020000020004" pitchFamily="50" charset="-127"/>
              </a:rPr>
              <a:t>먼저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왜 지금 야구인지부터 말씀드리겠습니다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15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[00:10-00:40] </a:t>
            </a:r>
            <a:r>
              <a:rPr lang="ko-KR" altLang="en-US">
                <a:latin typeface="맑은 고딕" panose="020B0503020000020004" pitchFamily="50" charset="-127"/>
              </a:rPr>
              <a:t>문제 정의 </a:t>
            </a:r>
            <a:r>
              <a:rPr lang="en-US" altLang="ko-KR">
                <a:latin typeface="맑은 고딕" panose="020B0503020000020004" pitchFamily="50" charset="-127"/>
              </a:rPr>
              <a:t>· 30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"KBO</a:t>
            </a:r>
            <a:r>
              <a:rPr lang="ko-KR" altLang="en-US">
                <a:latin typeface="맑은 고딕" panose="020B0503020000020004" pitchFamily="50" charset="-127"/>
              </a:rPr>
              <a:t>는 </a:t>
            </a:r>
            <a:r>
              <a:rPr lang="en-US" altLang="ko-KR">
                <a:latin typeface="맑은 고딕" panose="020B0503020000020004" pitchFamily="50" charset="-127"/>
              </a:rPr>
              <a:t>2024</a:t>
            </a:r>
            <a:r>
              <a:rPr lang="ko-KR" altLang="en-US">
                <a:latin typeface="맑은 고딕" panose="020B0503020000020004" pitchFamily="50" charset="-127"/>
              </a:rPr>
              <a:t>년에 사상 처음 </a:t>
            </a:r>
            <a:r>
              <a:rPr lang="en-US" altLang="ko-KR">
                <a:latin typeface="맑은 고딕" panose="020B0503020000020004" pitchFamily="50" charset="-127"/>
              </a:rPr>
              <a:t>1,000</a:t>
            </a:r>
            <a:r>
              <a:rPr lang="ko-KR" altLang="en-US">
                <a:latin typeface="맑은 고딕" panose="020B0503020000020004" pitchFamily="50" charset="-127"/>
              </a:rPr>
              <a:t>만 관중을 넘었고</a:t>
            </a:r>
            <a:r>
              <a:rPr lang="en-US" altLang="ko-KR">
                <a:latin typeface="맑은 고딕" panose="020B0503020000020004" pitchFamily="50" charset="-127"/>
              </a:rPr>
              <a:t>, 2025</a:t>
            </a:r>
            <a:r>
              <a:rPr lang="ko-KR" altLang="en-US">
                <a:latin typeface="맑은 고딕" panose="020B0503020000020004" pitchFamily="50" charset="-127"/>
              </a:rPr>
              <a:t>년에는 </a:t>
            </a:r>
            <a:r>
              <a:rPr lang="en-US" altLang="ko-KR">
                <a:latin typeface="맑은 고딕" panose="020B0503020000020004" pitchFamily="50" charset="-127"/>
              </a:rPr>
              <a:t>1,200</a:t>
            </a:r>
            <a:r>
              <a:rPr lang="ko-KR" altLang="en-US">
                <a:latin typeface="맑은 고딕" panose="020B0503020000020004" pitchFamily="50" charset="-127"/>
              </a:rPr>
              <a:t>만을 돌파했습니다</a:t>
            </a:r>
            <a:r>
              <a:rPr lang="en-US" altLang="ko-KR">
                <a:latin typeface="맑은 고딕" panose="020B0503020000020004" pitchFamily="50" charset="-127"/>
              </a:rPr>
              <a:t>. 20·30</a:t>
            </a:r>
            <a:r>
              <a:rPr lang="ko-KR" altLang="en-US">
                <a:latin typeface="맑은 고딕" panose="020B0503020000020004" pitchFamily="50" charset="-127"/>
              </a:rPr>
              <a:t>대가 그 유입을 견인했습니다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그런데 이 사람들이 야구를 직접 해볼 방법은 여전히 좁습니다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스크린야구는 타격만 다룹니다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수비도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주루도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판단도 빠져 있습니다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"HMD VR</a:t>
            </a:r>
            <a:r>
              <a:rPr lang="ko-KR" altLang="en-US">
                <a:latin typeface="맑은 고딕" panose="020B0503020000020004" pitchFamily="50" charset="-127"/>
              </a:rPr>
              <a:t>은 멀미와 </a:t>
            </a:r>
            <a:r>
              <a:rPr lang="en-US" altLang="ko-KR">
                <a:latin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</a:rPr>
              <a:t>인 플레이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착용 저항이 있고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실내 연습장은 공간과 안전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비용이 걸립니다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정리하면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야구의 절반인 수비는 아무도 다루지 않고 있습니다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마지막 문장에서 톤을 한 단 내리고 끊을 것</a:t>
            </a:r>
            <a:r>
              <a:rPr lang="en-US" altLang="ko-KR">
                <a:latin typeface="맑은 고딕" panose="020B0503020000020004" pitchFamily="50" charset="-127"/>
              </a:rPr>
              <a:t>. 4</a:t>
            </a:r>
            <a:r>
              <a:rPr lang="ko-KR" altLang="en-US">
                <a:latin typeface="맑은 고딕" panose="020B0503020000020004" pitchFamily="50" charset="-127"/>
              </a:rPr>
              <a:t>번 슬라이드의 복선이다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511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[00:40-01:20] </a:t>
            </a:r>
            <a:r>
              <a:rPr lang="ko-KR" altLang="en-US">
                <a:latin typeface="맑은 고딕" panose="020B0503020000020004" pitchFamily="50" charset="-127"/>
              </a:rPr>
              <a:t>솔루션 </a:t>
            </a:r>
            <a:r>
              <a:rPr lang="en-US" altLang="ko-KR">
                <a:latin typeface="맑은 고딕" panose="020B0503020000020004" pitchFamily="50" charset="-127"/>
              </a:rPr>
              <a:t>· 40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저희 콘텐츠는 뉴작의 </a:t>
            </a:r>
            <a:r>
              <a:rPr lang="en-US" altLang="ko-KR">
                <a:latin typeface="맑은 고딕" panose="020B0503020000020004" pitchFamily="50" charset="-127"/>
              </a:rPr>
              <a:t>SporTrack </a:t>
            </a:r>
            <a:r>
              <a:rPr lang="ko-KR" altLang="en-US">
                <a:latin typeface="맑은 고딕" panose="020B0503020000020004" pitchFamily="50" charset="-127"/>
              </a:rPr>
              <a:t>위에 얹습니다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헤드셋을 쓰지 않는 공간형 </a:t>
            </a:r>
            <a:r>
              <a:rPr lang="en-US" altLang="ko-KR">
                <a:latin typeface="맑은 고딕" panose="020B0503020000020004" pitchFamily="50" charset="-127"/>
              </a:rPr>
              <a:t>XR </a:t>
            </a:r>
            <a:r>
              <a:rPr lang="ko-KR" altLang="en-US">
                <a:latin typeface="맑은 고딕" panose="020B0503020000020004" pitchFamily="50" charset="-127"/>
              </a:rPr>
              <a:t>플랫폼이고</a:t>
            </a:r>
            <a:r>
              <a:rPr lang="en-US" altLang="ko-KR">
                <a:latin typeface="맑은 고딕" panose="020B0503020000020004" pitchFamily="50" charset="-127"/>
              </a:rPr>
              <a:t>, CES </a:t>
            </a:r>
            <a:r>
              <a:rPr lang="ko-KR" altLang="en-US">
                <a:latin typeface="맑은 고딕" panose="020B0503020000020004" pitchFamily="50" charset="-127"/>
              </a:rPr>
              <a:t>혁신상을 받았습니다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바닥 투사로 보고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베이스 스테이션이 배트를 추적하고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최대 </a:t>
            </a:r>
            <a:r>
              <a:rPr lang="en-US" altLang="ko-KR">
                <a:latin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</a:rPr>
              <a:t>명이 같이 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차별점은 셋입니다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첫째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헤드셋을 벗겼습니다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멀미가 없고 여러 명이 동시에 할 수 있어서 학교와 전시관에 그대로 들어갑니다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둘째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스윙을 실제로 측정합니다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손 속도가 아니라 배트 헤드 속도를 계산합니다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맞았는지가 아니라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얼마나 어긋났는지를 잽니다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셋째</a:t>
            </a:r>
            <a:r>
              <a:rPr lang="en-US" altLang="ko-KR">
                <a:latin typeface="맑은 고딕" panose="020B0503020000020004" pitchFamily="50" charset="-127"/>
              </a:rPr>
              <a:t>, AI</a:t>
            </a:r>
            <a:r>
              <a:rPr lang="ko-KR" altLang="en-US">
                <a:latin typeface="맑은 고딕" panose="020B0503020000020004" pitchFamily="50" charset="-127"/>
              </a:rPr>
              <a:t>가 숫자를 지어내지 못하는 구조로 짰습니다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약점은 계산이 찾고</a:t>
            </a:r>
            <a:r>
              <a:rPr lang="en-US" altLang="ko-KR">
                <a:latin typeface="맑은 고딕" panose="020B0503020000020004" pitchFamily="50" charset="-127"/>
              </a:rPr>
              <a:t>, AI</a:t>
            </a:r>
            <a:r>
              <a:rPr lang="ko-KR" altLang="en-US">
                <a:latin typeface="맑은 고딕" panose="020B0503020000020004" pitchFamily="50" charset="-127"/>
              </a:rPr>
              <a:t>는 그걸 문장으로 옮기기만 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전환</a:t>
            </a:r>
            <a:r>
              <a:rPr lang="en-US" altLang="ko-KR">
                <a:latin typeface="맑은 고딕" panose="020B0503020000020004" pitchFamily="50" charset="-127"/>
              </a:rPr>
              <a:t>] "</a:t>
            </a:r>
            <a:r>
              <a:rPr lang="ko-KR" altLang="en-US">
                <a:latin typeface="맑은 고딕" panose="020B0503020000020004" pitchFamily="50" charset="-127"/>
              </a:rPr>
              <a:t>그래서 지금 무엇이 실제로 돌아가는지 보여드리겠습니다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25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[01:20-01:50] </a:t>
            </a:r>
            <a:r>
              <a:rPr lang="ko-KR" altLang="en-US">
                <a:latin typeface="맑은 고딕" panose="020B0503020000020004" pitchFamily="50" charset="-127"/>
              </a:rPr>
              <a:t>개발 현황 </a:t>
            </a:r>
            <a:r>
              <a:rPr lang="en-US" altLang="ko-KR">
                <a:latin typeface="맑은 고딕" panose="020B0503020000020004" pitchFamily="50" charset="-127"/>
              </a:rPr>
              <a:t>· 30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현재 플레이 가능한 종목은 넷입니다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타격 하나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수비 셋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타격은 구종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코스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구속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볼카운트가 다 있고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성적에 따라 난이도가 실시간으로 올라갑니다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그리고 수비가 이 프로젝트에서 코드가 가장 많은 부분입니다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포구는 땅볼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뜬공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라인드라이브가 유형마다 체공시간과 허용 반경이 다르고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성공과 헛손질과 놓침을 따로 셉니다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송구는 정확도만 보지 않습니다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릴리스 구속과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잡아서 던지기까지 걸린 전환 시간까지 남깁니다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백업 위치 판단은 몸이 아니라 판단을 훈련합니다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포지션과 타구 방향과 주자 상황 조합 </a:t>
            </a:r>
            <a:r>
              <a:rPr lang="en-US" altLang="ko-KR">
                <a:latin typeface="맑은 고딕" panose="020B0503020000020004" pitchFamily="50" charset="-127"/>
              </a:rPr>
              <a:t>18</a:t>
            </a:r>
            <a:r>
              <a:rPr lang="ko-KR" altLang="en-US">
                <a:latin typeface="맑은 고딕" panose="020B0503020000020004" pitchFamily="50" charset="-127"/>
              </a:rPr>
              <a:t>케이스가 들어 있고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틀리면 해설이 붙습니다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전체 </a:t>
            </a:r>
            <a:r>
              <a:rPr lang="en-US" altLang="ko-KR">
                <a:latin typeface="맑은 고딕" panose="020B0503020000020004" pitchFamily="50" charset="-127"/>
              </a:rPr>
              <a:t>C++ 16,000</a:t>
            </a:r>
            <a:r>
              <a:rPr lang="ko-KR" altLang="en-US">
                <a:latin typeface="맑은 고딕" panose="020B0503020000020004" pitchFamily="50" charset="-127"/>
              </a:rPr>
              <a:t>줄 규모입니다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하단 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연동 대기</a:t>
            </a:r>
            <a:r>
              <a:rPr lang="en-US" altLang="ko-KR">
                <a:latin typeface="맑은 고딕" panose="020B0503020000020004" pitchFamily="50" charset="-127"/>
              </a:rPr>
              <a:t>" 4</a:t>
            </a:r>
            <a:r>
              <a:rPr lang="ko-KR" altLang="en-US">
                <a:latin typeface="맑은 고딕" panose="020B0503020000020004" pitchFamily="50" charset="-127"/>
              </a:rPr>
              <a:t>종은 여기서 설명하지 말 것</a:t>
            </a:r>
            <a:r>
              <a:rPr lang="en-US" altLang="ko-KR">
                <a:latin typeface="맑은 고딕" panose="020B0503020000020004" pitchFamily="50" charset="-127"/>
              </a:rPr>
              <a:t>. "</a:t>
            </a:r>
            <a:r>
              <a:rPr lang="ko-KR" altLang="en-US">
                <a:latin typeface="맑은 고딕" panose="020B0503020000020004" pitchFamily="50" charset="-127"/>
              </a:rPr>
              <a:t>이건 뒤에서 말씀드리겠습니다</a:t>
            </a:r>
            <a:r>
              <a:rPr lang="en-US" altLang="ko-KR">
                <a:latin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</a:rPr>
              <a:t>한마디로 넘기고 </a:t>
            </a:r>
            <a:r>
              <a:rPr lang="en-US" altLang="ko-KR">
                <a:latin typeface="맑은 고딕" panose="020B0503020000020004" pitchFamily="50" charset="-127"/>
              </a:rPr>
              <a:t>9</a:t>
            </a:r>
            <a:r>
              <a:rPr lang="ko-KR" altLang="en-US">
                <a:latin typeface="맑은 고딕" panose="020B0503020000020004" pitchFamily="50" charset="-127"/>
              </a:rPr>
              <a:t>번에서 회수한다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951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[01:50-02:15] </a:t>
            </a:r>
            <a:r>
              <a:rPr lang="ko-KR" altLang="en-US">
                <a:latin typeface="맑은 고딕" panose="020B0503020000020004" pitchFamily="50" charset="-127"/>
              </a:rPr>
              <a:t>아키텍처 </a:t>
            </a:r>
            <a:r>
              <a:rPr lang="en-US" altLang="ko-KR">
                <a:latin typeface="맑은 고딕" panose="020B0503020000020004" pitchFamily="50" charset="-127"/>
              </a:rPr>
              <a:t>· 25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구조에서 한 가지만 말씀드리면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계산을 엔진에서 떼어냈다는 점입니다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액터가 입력과 연출을 맡고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계산 계층은 숫자만 받아 숫자만 돌려줍니다</a:t>
            </a:r>
            <a:r>
              <a:rPr lang="en-US" altLang="ko-KR">
                <a:latin typeface="맑은 고딕" panose="020B0503020000020004" pitchFamily="50" charset="-127"/>
              </a:rPr>
              <a:t>. UE </a:t>
            </a:r>
            <a:r>
              <a:rPr lang="ko-KR" altLang="en-US">
                <a:latin typeface="맑은 고딕" panose="020B0503020000020004" pitchFamily="50" charset="-127"/>
              </a:rPr>
              <a:t>렌더나 액터에 의존하지 않습니다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덕분에 </a:t>
            </a:r>
            <a:r>
              <a:rPr lang="en-US" altLang="ko-KR">
                <a:latin typeface="맑은 고딕" panose="020B0503020000020004" pitchFamily="50" charset="-127"/>
              </a:rPr>
              <a:t>Vive</a:t>
            </a:r>
            <a:r>
              <a:rPr lang="ko-KR" altLang="en-US">
                <a:latin typeface="맑은 고딕" panose="020B0503020000020004" pitchFamily="50" charset="-127"/>
              </a:rPr>
              <a:t>와 </a:t>
            </a:r>
            <a:r>
              <a:rPr lang="en-US" altLang="ko-KR">
                <a:latin typeface="맑은 고딕" panose="020B0503020000020004" pitchFamily="50" charset="-127"/>
              </a:rPr>
              <a:t>LiDAR</a:t>
            </a:r>
            <a:r>
              <a:rPr lang="ko-KR" altLang="en-US">
                <a:latin typeface="맑은 고딕" panose="020B0503020000020004" pitchFamily="50" charset="-127"/>
              </a:rPr>
              <a:t>가 없는 상태에서도 로직을 먼저 검증할 수 있었습니다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장비 수급이 늦어져도 개발이 멈추지 않았습니다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그리고 그 경계가 그대로 </a:t>
            </a:r>
            <a:r>
              <a:rPr lang="en-US" altLang="ko-KR">
                <a:latin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</a:rPr>
              <a:t>인 병렬 개발의 분할선이 됐습니다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여기서 시간을 아끼면 뒤가 편해진다</a:t>
            </a:r>
            <a:r>
              <a:rPr lang="en-US" altLang="ko-KR">
                <a:latin typeface="맑은 고딕" panose="020B0503020000020004" pitchFamily="50" charset="-127"/>
              </a:rPr>
              <a:t>. 25</a:t>
            </a:r>
            <a:r>
              <a:rPr lang="ko-KR" altLang="en-US">
                <a:latin typeface="맑은 고딕" panose="020B0503020000020004" pitchFamily="50" charset="-127"/>
              </a:rPr>
              <a:t>초를 넘기지 말 것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다음 장이 이 장의 결론이다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385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[02:15-03:00] </a:t>
            </a:r>
            <a:r>
              <a:rPr lang="ko-KR" altLang="en-US">
                <a:latin typeface="맑은 고딕" panose="020B0503020000020004" pitchFamily="50" charset="-127"/>
              </a:rPr>
              <a:t>플랫폼 이식 </a:t>
            </a:r>
            <a:r>
              <a:rPr lang="en-US" altLang="ko-KR">
                <a:latin typeface="맑은 고딕" panose="020B0503020000020004" pitchFamily="50" charset="-127"/>
              </a:rPr>
              <a:t>· 45</a:t>
            </a:r>
            <a:r>
              <a:rPr lang="ko-KR" altLang="en-US">
                <a:latin typeface="맑은 고딕" panose="020B0503020000020004" pitchFamily="50" charset="-127"/>
              </a:rPr>
              <a:t>초  ★ 이 발표에서 가장 중요할 수 있는 장표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솔직하게 먼저 말씀드리면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지금 구현은 </a:t>
            </a:r>
            <a:r>
              <a:rPr lang="en-US" altLang="ko-KR">
                <a:latin typeface="맑은 고딕" panose="020B0503020000020004" pitchFamily="50" charset="-127"/>
              </a:rPr>
              <a:t>Vive </a:t>
            </a:r>
            <a:r>
              <a:rPr lang="ko-KR" altLang="en-US">
                <a:latin typeface="맑은 고딕" panose="020B0503020000020004" pitchFamily="50" charset="-127"/>
              </a:rPr>
              <a:t>기반입니다</a:t>
            </a:r>
            <a:r>
              <a:rPr lang="en-US" altLang="ko-KR">
                <a:latin typeface="맑은 고딕" panose="020B0503020000020004" pitchFamily="50" charset="-127"/>
              </a:rPr>
              <a:t>. SporTrack</a:t>
            </a:r>
            <a:r>
              <a:rPr lang="ko-KR" altLang="en-US">
                <a:latin typeface="맑은 고딕" panose="020B0503020000020004" pitchFamily="50" charset="-127"/>
              </a:rPr>
              <a:t>의 바닥 투사</a:t>
            </a:r>
            <a:r>
              <a:rPr lang="en-US" altLang="ko-KR">
                <a:latin typeface="맑은 고딕" panose="020B0503020000020004" pitchFamily="50" charset="-127"/>
              </a:rPr>
              <a:t>·LiDAR </a:t>
            </a:r>
            <a:r>
              <a:rPr lang="ko-KR" altLang="en-US">
                <a:latin typeface="맑은 고딕" panose="020B0503020000020004" pitchFamily="50" charset="-127"/>
              </a:rPr>
              <a:t>환경과는 다릅니다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"LiDAR</a:t>
            </a:r>
            <a:r>
              <a:rPr lang="ko-KR" altLang="en-US">
                <a:latin typeface="맑은 고딕" panose="020B0503020000020004" pitchFamily="50" charset="-127"/>
              </a:rPr>
              <a:t>는 플랫폼 장비라 저희 대여 목록에 없었습니다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없는 센서를 기다리는 대신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입력을 추상화하고 </a:t>
            </a:r>
            <a:r>
              <a:rPr lang="en-US" altLang="ko-KR">
                <a:latin typeface="맑은 고딕" panose="020B0503020000020004" pitchFamily="50" charset="-127"/>
              </a:rPr>
              <a:t>Vive</a:t>
            </a:r>
            <a:r>
              <a:rPr lang="ko-KR" altLang="en-US">
                <a:latin typeface="맑은 고딕" panose="020B0503020000020004" pitchFamily="50" charset="-127"/>
              </a:rPr>
              <a:t>를 첫 번째 구현체로 썼습니다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그래서 옮기는 비용이 이렇게 나뉩니다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측정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채점</a:t>
            </a:r>
            <a:r>
              <a:rPr lang="en-US" altLang="ko-KR">
                <a:latin typeface="맑은 고딕" panose="020B0503020000020004" pitchFamily="50" charset="-127"/>
              </a:rPr>
              <a:t>·AI·</a:t>
            </a:r>
            <a:r>
              <a:rPr lang="ko-KR" altLang="en-US">
                <a:latin typeface="맑은 고딕" panose="020B0503020000020004" pitchFamily="50" charset="-127"/>
              </a:rPr>
              <a:t>저장 </a:t>
            </a:r>
            <a:r>
              <a:rPr lang="en-US" altLang="ko-KR">
                <a:latin typeface="맑은 고딕" panose="020B0503020000020004" pitchFamily="50" charset="-127"/>
              </a:rPr>
              <a:t>4,768</a:t>
            </a:r>
            <a:r>
              <a:rPr lang="ko-KR" altLang="en-US">
                <a:latin typeface="맑은 고딕" panose="020B0503020000020004" pitchFamily="50" charset="-127"/>
              </a:rPr>
              <a:t>줄은 센서가 아니라 숫자를 받기 때문에 그대로 갑니다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입력 어댑터는 </a:t>
            </a:r>
            <a:r>
              <a:rPr lang="en-US" altLang="ko-KR">
                <a:latin typeface="맑은 고딕" panose="020B0503020000020004" pitchFamily="50" charset="-127"/>
              </a:rPr>
              <a:t>168</a:t>
            </a:r>
            <a:r>
              <a:rPr lang="ko-KR" altLang="en-US">
                <a:latin typeface="맑은 고딕" panose="020B0503020000020004" pitchFamily="50" charset="-127"/>
              </a:rPr>
              <a:t>줄짜리 클래스 하나를 갈아 끼우는 일이고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인터페이스는 처음부터 있었습니다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남은 일은 폰과 </a:t>
            </a:r>
            <a:r>
              <a:rPr lang="en-US" altLang="ko-KR">
                <a:latin typeface="맑은 고딕" panose="020B0503020000020004" pitchFamily="50" charset="-127"/>
              </a:rPr>
              <a:t>HUD</a:t>
            </a:r>
            <a:r>
              <a:rPr lang="ko-KR" altLang="en-US">
                <a:latin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지금은 </a:t>
            </a:r>
            <a:r>
              <a:rPr lang="en-US" altLang="ko-KR">
                <a:latin typeface="맑은 고딕" panose="020B0503020000020004" pitchFamily="50" charset="-127"/>
              </a:rPr>
              <a:t>HMD</a:t>
            </a:r>
            <a:r>
              <a:rPr lang="ko-KR" altLang="en-US">
                <a:latin typeface="맑은 고딕" panose="020B0503020000020004" pitchFamily="50" charset="-127"/>
              </a:rPr>
              <a:t>와 컨트롤러 </a:t>
            </a:r>
            <a:r>
              <a:rPr lang="en-US" altLang="ko-KR">
                <a:latin typeface="맑은 고딕" panose="020B0503020000020004" pitchFamily="50" charset="-127"/>
              </a:rPr>
              <a:t>API</a:t>
            </a:r>
            <a:r>
              <a:rPr lang="ko-KR" altLang="en-US">
                <a:latin typeface="맑은 고딕" panose="020B0503020000020004" pitchFamily="50" charset="-127"/>
              </a:rPr>
              <a:t>에 직접 붙어 있어서 재배치가 필요합니다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이건 숨기지 않겠습니다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두 가지만 덧붙이면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배트는 </a:t>
            </a:r>
            <a:r>
              <a:rPr lang="en-US" altLang="ko-KR">
                <a:latin typeface="맑은 고딕" panose="020B0503020000020004" pitchFamily="50" charset="-127"/>
              </a:rPr>
              <a:t>LiDAR</a:t>
            </a:r>
            <a:r>
              <a:rPr lang="ko-KR" altLang="en-US">
                <a:latin typeface="맑은 고딕" panose="020B0503020000020004" pitchFamily="50" charset="-127"/>
              </a:rPr>
              <a:t>로 잡을 수 없습니다</a:t>
            </a:r>
            <a:r>
              <a:rPr lang="en-US" altLang="ko-KR">
                <a:latin typeface="맑은 고딕" panose="020B0503020000020004" pitchFamily="50" charset="-127"/>
              </a:rPr>
              <a:t>. Vive Tracker</a:t>
            </a:r>
            <a:r>
              <a:rPr lang="ko-KR" altLang="en-US">
                <a:latin typeface="맑은 고딕" panose="020B0503020000020004" pitchFamily="50" charset="-127"/>
              </a:rPr>
              <a:t>를 배트 소품에 붙입니다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헤드셋은 여전히 안 씁니다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여유 있을 때만</a:t>
            </a:r>
            <a:r>
              <a:rPr lang="en-US" altLang="ko-KR">
                <a:latin typeface="맑은 고딕" panose="020B0503020000020004" pitchFamily="50" charset="-127"/>
              </a:rPr>
              <a:t>) "</a:t>
            </a:r>
            <a:r>
              <a:rPr lang="ko-KR" altLang="en-US">
                <a:latin typeface="맑은 고딕" panose="020B0503020000020004" pitchFamily="50" charset="-127"/>
              </a:rPr>
              <a:t>그리고 </a:t>
            </a:r>
            <a:r>
              <a:rPr lang="en-US" altLang="ko-KR">
                <a:latin typeface="맑은 고딕" panose="020B0503020000020004" pitchFamily="50" charset="-127"/>
              </a:rPr>
              <a:t>Vive</a:t>
            </a:r>
            <a:r>
              <a:rPr lang="ko-KR" altLang="en-US">
                <a:latin typeface="맑은 고딕" panose="020B0503020000020004" pitchFamily="50" charset="-127"/>
              </a:rPr>
              <a:t>로 만든 게 낭비가 아닌 이유는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라이트하우스가 밀리미터 단위라 스윙 물리의 정답을 먼저 잡을 수 있었기 때문입니다</a:t>
            </a:r>
            <a:r>
              <a:rPr lang="en-US" altLang="ko-KR">
                <a:latin typeface="맑은 고딕" panose="020B0503020000020004" pitchFamily="50" charset="-127"/>
              </a:rPr>
              <a:t>. LiDAR</a:t>
            </a:r>
            <a:r>
              <a:rPr lang="ko-KR" altLang="en-US">
                <a:latin typeface="맑은 고딕" panose="020B0503020000020004" pitchFamily="50" charset="-127"/>
              </a:rPr>
              <a:t>는 그 값에 맞추면 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방어적으로 말하지 말 것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인정 → 숫자 → 설계 순서로 담담하게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심사위원이 뉴작이면 이 질문을 반드시 한다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먼저 말해서 질문을 답변으로 바꾸는 장표다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747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[03:00-03:40] </a:t>
            </a:r>
            <a:r>
              <a:rPr lang="ko-KR" altLang="en-US">
                <a:latin typeface="맑은 고딕" panose="020B0503020000020004" pitchFamily="50" charset="-127"/>
              </a:rPr>
              <a:t>핵심기술 ① 스윙 측정 </a:t>
            </a:r>
            <a:r>
              <a:rPr lang="en-US" altLang="ko-KR">
                <a:latin typeface="맑은 고딕" panose="020B0503020000020004" pitchFamily="50" charset="-127"/>
              </a:rPr>
              <a:t>· 40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타격의 핵심은 속도를 어떻게 재느냐입니다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컨트롤러 속도는 손 속도지 배트 속도가 아닙니다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회전 채찍 효과 때문에 배트 헤드가 손보다 빠릅니다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그래서 손 속도에 각속도 성분을 더해 배트 끝 속도를 구합니다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그리고 컨택 판정에 관문을 두 개 뒀습니다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시간 창과 동작 게이트입니다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이게 왜 필요하냐면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배트를 가만히 들고만 있어도 공이 근처를 지나가면 컨택으로 잡히던 결함이 있었습니다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지금은 실제로 휘둘러야만 컨택으로 인정합니다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히트박스도 점이 아니라 배럴 선분 </a:t>
            </a:r>
            <a:r>
              <a:rPr lang="en-US" altLang="ko-KR">
                <a:latin typeface="맑은 고딕" panose="020B0503020000020004" pitchFamily="50" charset="-127"/>
              </a:rPr>
              <a:t>44</a:t>
            </a:r>
            <a:r>
              <a:rPr lang="ko-KR" altLang="en-US">
                <a:latin typeface="맑은 고딕" panose="020B0503020000020004" pitchFamily="50" charset="-127"/>
              </a:rPr>
              <a:t>센티미터로 계산합니다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결함을 고쳤다는 이야기를 숨기지 말 것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검증을 실제로 했다는 증거로 읽힌다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918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[03:40-04:20] </a:t>
            </a:r>
            <a:r>
              <a:rPr lang="ko-KR" altLang="en-US">
                <a:latin typeface="맑은 고딕" panose="020B0503020000020004" pitchFamily="50" charset="-127"/>
              </a:rPr>
              <a:t>핵심기술 ② 채점 </a:t>
            </a:r>
            <a:r>
              <a:rPr lang="en-US" altLang="ko-KR">
                <a:latin typeface="맑은 고딕" panose="020B0503020000020004" pitchFamily="50" charset="-127"/>
              </a:rPr>
              <a:t>+ AI · 40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채점은 세 축입니다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정확도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효율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일관성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정확도는 타이밍 오차에 가우시안 감쇠를 걸고 스위트스팟 이격을 곱합니다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효율은 배트 속도가 아니라 가상 타구 속도로 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배트만 빨라도 점수가 붙으면 안 되니까요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실제로 헛스윙은 </a:t>
            </a:r>
            <a:r>
              <a:rPr lang="en-US" altLang="ko-KR">
                <a:latin typeface="맑은 고딕" panose="020B0503020000020004" pitchFamily="50" charset="-127"/>
              </a:rPr>
              <a:t>0</a:t>
            </a:r>
            <a:r>
              <a:rPr lang="ko-KR" altLang="en-US">
                <a:latin typeface="맑은 고딕" panose="020B0503020000020004" pitchFamily="50" charset="-127"/>
              </a:rPr>
              <a:t>점입니다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기준 상수는 아직 실측 보정 전입니다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그래서 결과 화면에 미보정이라고 그대로 띄웁니다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숨기지 않았습니다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그리고 </a:t>
            </a:r>
            <a:r>
              <a:rPr lang="en-US" altLang="ko-KR">
                <a:latin typeface="맑은 고딕" panose="020B0503020000020004" pitchFamily="50" charset="-127"/>
              </a:rPr>
              <a:t>AI</a:t>
            </a:r>
            <a:r>
              <a:rPr lang="ko-KR" altLang="en-US">
                <a:latin typeface="맑은 고딕" panose="020B0503020000020004" pitchFamily="50" charset="-127"/>
              </a:rPr>
              <a:t>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여기가 가장 신경 쓴 부분인데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약점을 </a:t>
            </a:r>
            <a:r>
              <a:rPr lang="en-US" altLang="ko-KR">
                <a:latin typeface="맑은 고딕" panose="020B0503020000020004" pitchFamily="50" charset="-127"/>
              </a:rPr>
              <a:t>AI</a:t>
            </a:r>
            <a:r>
              <a:rPr lang="ko-KR" altLang="en-US">
                <a:latin typeface="맑은 고딕" panose="020B0503020000020004" pitchFamily="50" charset="-127"/>
              </a:rPr>
              <a:t>가 찾지 않습니다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결정론적인 임계값 비교가 약점 축 </a:t>
            </a:r>
            <a:r>
              <a:rPr lang="en-US" altLang="ko-KR">
                <a:latin typeface="맑은 고딕" panose="020B0503020000020004" pitchFamily="50" charset="-127"/>
              </a:rPr>
              <a:t>18</a:t>
            </a:r>
            <a:r>
              <a:rPr lang="ko-KR" altLang="en-US">
                <a:latin typeface="맑은 고딕" panose="020B0503020000020004" pitchFamily="50" charset="-127"/>
              </a:rPr>
              <a:t>종 중에서 찾아내고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드릴 카탈로그가 운동을 고릅니다</a:t>
            </a:r>
            <a:r>
              <a:rPr lang="en-US" altLang="ko-KR">
                <a:latin typeface="맑은 고딕" panose="020B0503020000020004" pitchFamily="50" charset="-127"/>
              </a:rPr>
              <a:t>. AI</a:t>
            </a:r>
            <a:r>
              <a:rPr lang="ko-KR" altLang="en-US">
                <a:latin typeface="맑은 고딕" panose="020B0503020000020004" pitchFamily="50" charset="-127"/>
              </a:rPr>
              <a:t>는 그 숫자를 문장으로 옮기는 일만 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그래서 </a:t>
            </a:r>
            <a:r>
              <a:rPr lang="en-US" altLang="ko-KR">
                <a:latin typeface="맑은 고딕" panose="020B0503020000020004" pitchFamily="50" charset="-127"/>
              </a:rPr>
              <a:t>API </a:t>
            </a:r>
            <a:r>
              <a:rPr lang="ko-KR" altLang="en-US">
                <a:latin typeface="맑은 고딕" panose="020B0503020000020004" pitchFamily="50" charset="-127"/>
              </a:rPr>
              <a:t>키가 없어도 약점 리포트와 추천 드릴은 그대로 나옵니다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전환</a:t>
            </a:r>
            <a:r>
              <a:rPr lang="en-US" altLang="ko-KR">
                <a:latin typeface="맑은 고딕" panose="020B0503020000020004" pitchFamily="50" charset="-127"/>
              </a:rPr>
              <a:t>] "</a:t>
            </a:r>
            <a:r>
              <a:rPr lang="ko-KR" altLang="en-US">
                <a:latin typeface="맑은 고딕" panose="020B0503020000020004" pitchFamily="50" charset="-127"/>
              </a:rPr>
              <a:t>이제 직접 실행해서 보여드리겠습니다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"</a:t>
            </a:r>
            <a:r>
              <a:rPr lang="ko-KR" altLang="en-US">
                <a:latin typeface="맑은 고딕" panose="020B0503020000020004" pitchFamily="50" charset="-127"/>
              </a:rPr>
              <a:t>미보정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은 데모 영상에도 찍힌다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여기서 먼저 말해두면 질문이 아니라 설계로 읽힌다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435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[04:20-06:20] </a:t>
            </a:r>
            <a:r>
              <a:rPr lang="ko-KR" altLang="en-US">
                <a:latin typeface="맑은 고딕" panose="020B0503020000020004" pitchFamily="50" charset="-127"/>
              </a:rPr>
              <a:t>라이브 시연 </a:t>
            </a:r>
            <a:r>
              <a:rPr lang="en-US" altLang="ko-KR">
                <a:latin typeface="맑은 고딕" panose="020B0503020000020004" pitchFamily="50" charset="-127"/>
              </a:rPr>
              <a:t>· 120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r>
              <a:rPr lang="ko-KR" altLang="en-US">
                <a:latin typeface="맑은 고딕" panose="020B0503020000020004" pitchFamily="50" charset="-127"/>
              </a:rPr>
              <a:t>★ 슬라이드를 넘기지 말고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여기서 게임 창으로 전환한다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=== </a:t>
            </a:r>
            <a:r>
              <a:rPr lang="ko-KR" altLang="en-US">
                <a:latin typeface="맑은 고딕" panose="020B0503020000020004" pitchFamily="50" charset="-127"/>
              </a:rPr>
              <a:t>발표 시작 전에 반드시 끝내 둘 것 </a:t>
            </a:r>
            <a:r>
              <a:rPr lang="en-US" altLang="ko-KR">
                <a:latin typeface="맑은 고딕" panose="020B0503020000020004" pitchFamily="50" charset="-127"/>
              </a:rPr>
              <a:t>===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1. </a:t>
            </a:r>
            <a:r>
              <a:rPr lang="ko-KR" altLang="en-US">
                <a:latin typeface="맑은 고딕" panose="020B0503020000020004" pitchFamily="50" charset="-127"/>
              </a:rPr>
              <a:t>게임을 미리 실행해 셰이더 컴파일과 첫 투구까지 한 번 돌려 둔다 </a:t>
            </a:r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콜드 스타트 금지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2. Config/Secrets.ini </a:t>
            </a:r>
            <a:r>
              <a:rPr lang="ko-KR" altLang="en-US">
                <a:latin typeface="맑은 고딕" panose="020B0503020000020004" pitchFamily="50" charset="-127"/>
              </a:rPr>
              <a:t>의 </a:t>
            </a:r>
            <a:r>
              <a:rPr lang="en-US" altLang="ko-KR">
                <a:latin typeface="맑은 고딕" panose="020B0503020000020004" pitchFamily="50" charset="-127"/>
              </a:rPr>
              <a:t>[AI] ApiKey </a:t>
            </a:r>
            <a:r>
              <a:rPr lang="ko-KR" altLang="en-US">
                <a:latin typeface="맑은 고딕" panose="020B0503020000020004" pitchFamily="50" charset="-127"/>
              </a:rPr>
              <a:t>기재 </a:t>
            </a:r>
            <a:r>
              <a:rPr lang="en-US" altLang="ko-KR">
                <a:latin typeface="맑은 고딕" panose="020B0503020000020004" pitchFamily="50" charset="-127"/>
              </a:rPr>
              <a:t>+ </a:t>
            </a:r>
            <a:r>
              <a:rPr lang="ko-KR" altLang="en-US">
                <a:latin typeface="맑은 고딕" panose="020B0503020000020004" pitchFamily="50" charset="-127"/>
              </a:rPr>
              <a:t>네트워크 확인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없으면 </a:t>
            </a:r>
            <a:r>
              <a:rPr lang="en-US" altLang="ko-KR">
                <a:latin typeface="맑은 고딕" panose="020B0503020000020004" pitchFamily="50" charset="-127"/>
              </a:rPr>
              <a:t>AI </a:t>
            </a:r>
            <a:r>
              <a:rPr lang="ko-KR" altLang="en-US">
                <a:latin typeface="맑은 고딕" panose="020B0503020000020004" pitchFamily="50" charset="-127"/>
              </a:rPr>
              <a:t>코칭 자리에 안내 문구만 나온다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3. </a:t>
            </a:r>
            <a:r>
              <a:rPr lang="ko-KR" altLang="en-US">
                <a:latin typeface="맑은 고딕" panose="020B0503020000020004" pitchFamily="50" charset="-127"/>
              </a:rPr>
              <a:t>각 모드 </a:t>
            </a:r>
            <a:r>
              <a:rPr lang="en-US" altLang="ko-KR">
                <a:latin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</a:rPr>
              <a:t>세션씩 미리 돌려 저장 이력을 만들어 둔다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그래야 마지막 </a:t>
            </a:r>
            <a:r>
              <a:rPr lang="en-US" altLang="ko-KR">
                <a:latin typeface="맑은 고딕" panose="020B0503020000020004" pitchFamily="50" charset="-127"/>
              </a:rPr>
              <a:t>AI </a:t>
            </a:r>
            <a:r>
              <a:rPr lang="ko-KR" altLang="en-US">
                <a:latin typeface="맑은 고딕" panose="020B0503020000020004" pitchFamily="50" charset="-127"/>
              </a:rPr>
              <a:t>코칭 화면에 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추세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가 뜬다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4. PIE </a:t>
            </a:r>
            <a:r>
              <a:rPr lang="ko-KR" altLang="en-US">
                <a:latin typeface="맑은 고딕" panose="020B0503020000020004" pitchFamily="50" charset="-127"/>
              </a:rPr>
              <a:t>창 최대화 </a:t>
            </a:r>
            <a:r>
              <a:rPr lang="en-US" altLang="ko-KR">
                <a:latin typeface="맑은 고딕" panose="020B0503020000020004" pitchFamily="50" charset="-127"/>
              </a:rPr>
              <a:t>+ 1080p (HUD</a:t>
            </a:r>
            <a:r>
              <a:rPr lang="ko-KR" altLang="en-US">
                <a:latin typeface="맑은 고딕" panose="020B0503020000020004" pitchFamily="50" charset="-127"/>
              </a:rPr>
              <a:t>가 </a:t>
            </a:r>
            <a:r>
              <a:rPr lang="en-US" altLang="ko-KR">
                <a:latin typeface="맑은 고딕" panose="020B0503020000020004" pitchFamily="50" charset="-127"/>
              </a:rPr>
              <a:t>1080p </a:t>
            </a:r>
            <a:r>
              <a:rPr lang="ko-KR" altLang="en-US">
                <a:latin typeface="맑은 고딕" panose="020B0503020000020004" pitchFamily="50" charset="-127"/>
              </a:rPr>
              <a:t>기준으로 스케일된다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5. </a:t>
            </a:r>
            <a:r>
              <a:rPr lang="ko-KR" altLang="en-US">
                <a:latin typeface="맑은 고딕" panose="020B0503020000020004" pitchFamily="50" charset="-127"/>
              </a:rPr>
              <a:t>한글이 네모로 깨지면 </a:t>
            </a:r>
            <a:r>
              <a:rPr lang="en-US" altLang="ko-KR">
                <a:latin typeface="맑은 고딕" panose="020B0503020000020004" pitchFamily="50" charset="-127"/>
              </a:rPr>
              <a:t>AModeSelectHUD </a:t>
            </a:r>
            <a:r>
              <a:rPr lang="ko-KR" altLang="en-US">
                <a:latin typeface="맑은 고딕" panose="020B0503020000020004" pitchFamily="50" charset="-127"/>
              </a:rPr>
              <a:t>자식 </a:t>
            </a:r>
            <a:r>
              <a:rPr lang="en-US" altLang="ko-KR">
                <a:latin typeface="맑은 고딕" panose="020B0503020000020004" pitchFamily="50" charset="-127"/>
              </a:rPr>
              <a:t>BP </a:t>
            </a:r>
            <a:r>
              <a:rPr lang="ko-KR" altLang="en-US">
                <a:latin typeface="맑은 고딕" panose="020B0503020000020004" pitchFamily="50" charset="-127"/>
              </a:rPr>
              <a:t>의 </a:t>
            </a:r>
            <a:r>
              <a:rPr lang="en-US" altLang="ko-KR">
                <a:latin typeface="맑은 고딕" panose="020B0503020000020004" pitchFamily="50" charset="-127"/>
              </a:rPr>
              <a:t>MenuFont </a:t>
            </a:r>
            <a:r>
              <a:rPr lang="ko-KR" altLang="en-US">
                <a:latin typeface="맑은 고딕" panose="020B0503020000020004" pitchFamily="50" charset="-127"/>
              </a:rPr>
              <a:t>지정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6. </a:t>
            </a:r>
            <a:r>
              <a:rPr lang="ko-KR" altLang="en-US">
                <a:latin typeface="맑은 고딕" panose="020B0503020000020004" pitchFamily="50" charset="-127"/>
              </a:rPr>
              <a:t>난이도는 아마추어로 고정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=== Zoom </a:t>
            </a:r>
            <a:r>
              <a:rPr lang="ko-KR" altLang="en-US">
                <a:latin typeface="맑은 고딕" panose="020B0503020000020004" pitchFamily="50" charset="-127"/>
              </a:rPr>
              <a:t>전환 방법 </a:t>
            </a:r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여기서 사고가 난다</a:t>
            </a:r>
            <a:r>
              <a:rPr lang="en-US" altLang="ko-KR">
                <a:latin typeface="맑은 고딕" panose="020B0503020000020004" pitchFamily="50" charset="-127"/>
              </a:rPr>
              <a:t>) ===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처음부터 </a:t>
            </a:r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전체 화면</a:t>
            </a:r>
            <a:r>
              <a:rPr lang="en-US" altLang="ko-KR">
                <a:latin typeface="맑은 고딕" panose="020B0503020000020004" pitchFamily="50" charset="-127"/>
              </a:rPr>
              <a:t>]</a:t>
            </a:r>
            <a:r>
              <a:rPr lang="ko-KR" altLang="en-US">
                <a:latin typeface="맑은 고딕" panose="020B0503020000020004" pitchFamily="50" charset="-127"/>
              </a:rPr>
              <a:t>을 공유한다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창 단위 공유는 게임으로 넘어갈 때 다시 공유해야 한다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PowerPoint</a:t>
            </a:r>
            <a:r>
              <a:rPr lang="ko-KR" altLang="en-US">
                <a:latin typeface="맑은 고딕" panose="020B0503020000020004" pitchFamily="50" charset="-127"/>
              </a:rPr>
              <a:t>는 슬라이드쇼 대신 </a:t>
            </a:r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읽기용 보기</a:t>
            </a:r>
            <a:r>
              <a:rPr lang="en-US" altLang="ko-KR">
                <a:latin typeface="맑은 고딕" panose="020B0503020000020004" pitchFamily="50" charset="-127"/>
              </a:rPr>
              <a:t>]</a:t>
            </a:r>
            <a:r>
              <a:rPr lang="ko-KR" altLang="en-US">
                <a:latin typeface="맑은 고딕" panose="020B0503020000020004" pitchFamily="50" charset="-127"/>
              </a:rPr>
              <a:t>로 띄운다 </a:t>
            </a:r>
            <a:r>
              <a:rPr lang="en-US" altLang="ko-KR">
                <a:latin typeface="맑은 고딕" panose="020B0503020000020004" pitchFamily="50" charset="-127"/>
              </a:rPr>
              <a:t>— Alt+Tab </a:t>
            </a:r>
            <a:r>
              <a:rPr lang="ko-KR" altLang="en-US">
                <a:latin typeface="맑은 고딕" panose="020B0503020000020004" pitchFamily="50" charset="-127"/>
              </a:rPr>
              <a:t>전환이 자연스럽다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알림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메신저 끄고 바탕화면 정리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시연 후 </a:t>
            </a:r>
            <a:r>
              <a:rPr lang="en-US" altLang="ko-KR">
                <a:latin typeface="맑은 고딕" panose="020B0503020000020004" pitchFamily="50" charset="-127"/>
              </a:rPr>
              <a:t>Alt+Tab </a:t>
            </a:r>
            <a:r>
              <a:rPr lang="ko-KR" altLang="en-US">
                <a:latin typeface="맑은 고딕" panose="020B0503020000020004" pitchFamily="50" charset="-127"/>
              </a:rPr>
              <a:t>으로 </a:t>
            </a:r>
            <a:r>
              <a:rPr lang="en-US" altLang="ko-KR">
                <a:latin typeface="맑은 고딕" panose="020B0503020000020004" pitchFamily="50" charset="-127"/>
              </a:rPr>
              <a:t>PPT </a:t>
            </a:r>
            <a:r>
              <a:rPr lang="ko-KR" altLang="en-US">
                <a:latin typeface="맑은 고딕" panose="020B0503020000020004" pitchFamily="50" charset="-127"/>
              </a:rPr>
              <a:t>복귀 → </a:t>
            </a:r>
            <a:r>
              <a:rPr lang="en-US" altLang="ko-KR">
                <a:latin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</a:rPr>
              <a:t>번</a:t>
            </a:r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로드맵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=== 120</a:t>
            </a:r>
            <a:r>
              <a:rPr lang="ko-KR" altLang="en-US">
                <a:latin typeface="맑은 고딕" panose="020B0503020000020004" pitchFamily="50" charset="-127"/>
              </a:rPr>
              <a:t>초 진행 </a:t>
            </a:r>
            <a:r>
              <a:rPr lang="en-US" altLang="ko-KR">
                <a:latin typeface="맑은 고딕" panose="020B0503020000020004" pitchFamily="50" charset="-127"/>
              </a:rPr>
              <a:t>===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0:00  </a:t>
            </a:r>
            <a:r>
              <a:rPr lang="ko-KR" altLang="en-US">
                <a:latin typeface="맑은 고딕" panose="020B0503020000020004" pitchFamily="50" charset="-127"/>
              </a:rPr>
              <a:t>시작 화면 </a:t>
            </a:r>
            <a:r>
              <a:rPr lang="en-US" altLang="ko-KR">
                <a:latin typeface="맑은 고딕" panose="020B0503020000020004" pitchFamily="50" charset="-127"/>
              </a:rPr>
              <a:t>— "</a:t>
            </a:r>
            <a:r>
              <a:rPr lang="ko-KR" altLang="en-US">
                <a:latin typeface="맑은 고딕" panose="020B0503020000020004" pitchFamily="50" charset="-127"/>
              </a:rPr>
              <a:t>야구 흐름 순서로 모드가 놓여 있습니다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0:08  </a:t>
            </a:r>
            <a:r>
              <a:rPr lang="ko-KR" altLang="en-US">
                <a:latin typeface="맑은 고딕" panose="020B0503020000020004" pitchFamily="50" charset="-127"/>
              </a:rPr>
              <a:t>타격 진입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타격 </a:t>
            </a:r>
            <a:r>
              <a:rPr lang="en-US" altLang="ko-KR">
                <a:latin typeface="맑은 고딕" panose="020B0503020000020004" pitchFamily="50" charset="-127"/>
              </a:rPr>
              <a:t>/ </a:t>
            </a:r>
            <a:r>
              <a:rPr lang="ko-KR" altLang="en-US">
                <a:latin typeface="맑은 고딕" panose="020B0503020000020004" pitchFamily="50" charset="-127"/>
              </a:rPr>
              <a:t>아마추어 </a:t>
            </a:r>
            <a:r>
              <a:rPr lang="en-US" altLang="ko-KR">
                <a:latin typeface="맑은 고딕" panose="020B0503020000020004" pitchFamily="50" charset="-127"/>
              </a:rPr>
              <a:t>/ </a:t>
            </a:r>
            <a:r>
              <a:rPr lang="ko-KR" altLang="en-US">
                <a:latin typeface="맑은 고딕" panose="020B0503020000020004" pitchFamily="50" charset="-127"/>
              </a:rPr>
              <a:t>우타 </a:t>
            </a:r>
            <a:r>
              <a:rPr lang="en-US" altLang="ko-KR">
                <a:latin typeface="맑은 고딕" panose="020B0503020000020004" pitchFamily="50" charset="-127"/>
              </a:rPr>
              <a:t>(Enter 3</a:t>
            </a:r>
            <a:r>
              <a:rPr lang="ko-KR" altLang="en-US">
                <a:latin typeface="맑은 고딕" panose="020B0503020000020004" pitchFamily="50" charset="-127"/>
              </a:rPr>
              <a:t>번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0:13  </a:t>
            </a:r>
            <a:r>
              <a:rPr lang="ko-KR" altLang="en-US">
                <a:latin typeface="맑은 고딕" panose="020B0503020000020004" pitchFamily="50" charset="-127"/>
              </a:rPr>
              <a:t>타격 약 </a:t>
            </a:r>
            <a:r>
              <a:rPr lang="en-US" altLang="ko-KR">
                <a:latin typeface="맑은 고딕" panose="020B0503020000020004" pitchFamily="50" charset="-127"/>
              </a:rPr>
              <a:t>10</a:t>
            </a:r>
            <a:r>
              <a:rPr lang="ko-KR" altLang="en-US">
                <a:latin typeface="맑은 고딕" panose="020B0503020000020004" pitchFamily="50" charset="-127"/>
              </a:rPr>
              <a:t>구 </a:t>
            </a:r>
            <a:r>
              <a:rPr lang="en-US" altLang="ko-KR">
                <a:latin typeface="맑은 고딕" panose="020B0503020000020004" pitchFamily="50" charset="-127"/>
              </a:rPr>
              <a:t>— Space. ★ </a:t>
            </a:r>
            <a:r>
              <a:rPr lang="ko-KR" altLang="en-US">
                <a:latin typeface="맑은 고딕" panose="020B0503020000020004" pitchFamily="50" charset="-127"/>
              </a:rPr>
              <a:t>일부러 </a:t>
            </a:r>
            <a:r>
              <a:rPr lang="en-US" altLang="ko-KR">
                <a:latin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</a:rPr>
              <a:t>번 늦게 휘둘러 파울을 만들 것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0:45  F </a:t>
            </a:r>
            <a:r>
              <a:rPr lang="ko-KR" altLang="en-US">
                <a:latin typeface="맑은 고딕" panose="020B0503020000020004" pitchFamily="50" charset="-127"/>
              </a:rPr>
              <a:t>키 → 결과 화면</a:t>
            </a:r>
            <a:r>
              <a:rPr lang="en-US" altLang="ko-KR">
                <a:latin typeface="맑은 고딕" panose="020B0503020000020004" pitchFamily="50" charset="-127"/>
              </a:rPr>
              <a:t>. 3</a:t>
            </a:r>
            <a:r>
              <a:rPr lang="ko-KR" altLang="en-US">
                <a:latin typeface="맑은 고딕" panose="020B0503020000020004" pitchFamily="50" charset="-127"/>
              </a:rPr>
              <a:t>축 미터 </a:t>
            </a:r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비거리 </a:t>
            </a:r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약점 리포트 </a:t>
            </a:r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추천 드릴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1:03  M → </a:t>
            </a:r>
            <a:r>
              <a:rPr lang="ko-KR" altLang="en-US">
                <a:latin typeface="맑은 고딕" panose="020B0503020000020004" pitchFamily="50" charset="-127"/>
              </a:rPr>
              <a:t>수비 → 포구</a:t>
            </a:r>
            <a:r>
              <a:rPr lang="en-US" altLang="ko-KR">
                <a:latin typeface="맑은 고딕" panose="020B0503020000020004" pitchFamily="50" charset="-127"/>
              </a:rPr>
              <a:t>. 2(</a:t>
            </a:r>
            <a:r>
              <a:rPr lang="ko-KR" altLang="en-US">
                <a:latin typeface="맑은 고딕" panose="020B0503020000020004" pitchFamily="50" charset="-127"/>
              </a:rPr>
              <a:t>뜬공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  <a:r>
              <a:rPr lang="ko-KR" altLang="en-US">
                <a:latin typeface="맑은 고딕" panose="020B0503020000020004" pitchFamily="50" charset="-127"/>
              </a:rPr>
              <a:t>로 </a:t>
            </a:r>
            <a:r>
              <a:rPr lang="en-US" altLang="ko-KR">
                <a:latin typeface="맑은 고딕" panose="020B0503020000020004" pitchFamily="50" charset="-127"/>
              </a:rPr>
              <a:t>3~4</a:t>
            </a:r>
            <a:r>
              <a:rPr lang="ko-KR" altLang="en-US">
                <a:latin typeface="맑은 고딕" panose="020B0503020000020004" pitchFamily="50" charset="-127"/>
              </a:rPr>
              <a:t>구</a:t>
            </a:r>
            <a:r>
              <a:rPr lang="en-US" altLang="ko-KR">
                <a:latin typeface="맑은 고딕" panose="020B0503020000020004" pitchFamily="50" charset="-127"/>
              </a:rPr>
              <a:t>, WASD </a:t>
            </a:r>
            <a:r>
              <a:rPr lang="ko-KR" altLang="en-US">
                <a:latin typeface="맑은 고딕" panose="020B0503020000020004" pitchFamily="50" charset="-127"/>
              </a:rPr>
              <a:t>이동 후 </a:t>
            </a:r>
            <a:r>
              <a:rPr lang="en-US" altLang="ko-KR">
                <a:latin typeface="맑은 고딕" panose="020B0503020000020004" pitchFamily="50" charset="-127"/>
              </a:rPr>
              <a:t>Space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1:27  M → </a:t>
            </a:r>
            <a:r>
              <a:rPr lang="ko-KR" altLang="en-US">
                <a:latin typeface="맑은 고딕" panose="020B0503020000020004" pitchFamily="50" charset="-127"/>
              </a:rPr>
              <a:t>수비 → 송구</a:t>
            </a:r>
            <a:r>
              <a:rPr lang="en-US" altLang="ko-KR">
                <a:latin typeface="맑은 고딕" panose="020B0503020000020004" pitchFamily="50" charset="-127"/>
              </a:rPr>
              <a:t>. Space </a:t>
            </a:r>
            <a:r>
              <a:rPr lang="ko-KR" altLang="en-US">
                <a:latin typeface="맑은 고딕" panose="020B0503020000020004" pitchFamily="50" charset="-127"/>
              </a:rPr>
              <a:t>포구 → </a:t>
            </a:r>
            <a:r>
              <a:rPr lang="en-US" altLang="ko-KR">
                <a:latin typeface="맑은 고딕" panose="020B0503020000020004" pitchFamily="50" charset="-127"/>
              </a:rPr>
              <a:t>Space </a:t>
            </a:r>
            <a:r>
              <a:rPr lang="ko-KR" altLang="en-US">
                <a:latin typeface="맑은 고딕" panose="020B0503020000020004" pitchFamily="50" charset="-127"/>
              </a:rPr>
              <a:t>길게 눌러 충전 후 떼기</a:t>
            </a:r>
            <a:r>
              <a:rPr lang="en-US" altLang="ko-KR">
                <a:latin typeface="맑은 고딕" panose="020B0503020000020004" pitchFamily="50" charset="-127"/>
              </a:rPr>
              <a:t>. 2~3</a:t>
            </a:r>
            <a:r>
              <a:rPr lang="ko-KR" altLang="en-US">
                <a:latin typeface="맑은 고딕" panose="020B0503020000020004" pitchFamily="50" charset="-127"/>
              </a:rPr>
              <a:t>시행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1:52  M → AI </a:t>
            </a:r>
            <a:r>
              <a:rPr lang="ko-KR" altLang="en-US">
                <a:latin typeface="맑은 고딕" panose="020B0503020000020004" pitchFamily="50" charset="-127"/>
              </a:rPr>
              <a:t>코칭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누적 약점 추세 </a:t>
            </a:r>
            <a:r>
              <a:rPr lang="en-US" altLang="ko-KR">
                <a:latin typeface="맑은 고딕" panose="020B0503020000020004" pitchFamily="50" charset="-127"/>
              </a:rPr>
              <a:t>+ </a:t>
            </a:r>
            <a:r>
              <a:rPr lang="ko-KR" altLang="en-US">
                <a:latin typeface="맑은 고딕" panose="020B0503020000020004" pitchFamily="50" charset="-127"/>
              </a:rPr>
              <a:t>추천 운동 </a:t>
            </a:r>
            <a:r>
              <a:rPr lang="en-US" altLang="ko-KR">
                <a:latin typeface="맑은 고딕" panose="020B0503020000020004" pitchFamily="50" charset="-127"/>
              </a:rPr>
              <a:t>+ AI </a:t>
            </a:r>
            <a:r>
              <a:rPr lang="ko-KR" altLang="en-US">
                <a:latin typeface="맑은 고딕" panose="020B0503020000020004" pitchFamily="50" charset="-127"/>
              </a:rPr>
              <a:t>문장</a:t>
            </a:r>
          </a:p>
          <a:p>
            <a:r>
              <a:rPr lang="ko-KR" altLang="en-US">
                <a:latin typeface="맑은 고딕" panose="020B0503020000020004" pitchFamily="50" charset="-127"/>
              </a:rPr>
              <a:t>→ </a:t>
            </a:r>
            <a:r>
              <a:rPr lang="en-US" altLang="ko-KR">
                <a:latin typeface="맑은 고딕" panose="020B0503020000020004" pitchFamily="50" charset="-127"/>
              </a:rPr>
              <a:t>2:00 </a:t>
            </a:r>
            <a:r>
              <a:rPr lang="ko-KR" altLang="en-US">
                <a:latin typeface="맑은 고딕" panose="020B0503020000020004" pitchFamily="50" charset="-127"/>
              </a:rPr>
              <a:t>에서 끊는다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백업 위치 판단은 </a:t>
            </a:r>
            <a:r>
              <a:rPr lang="en-US" altLang="ko-KR">
                <a:latin typeface="맑은 고딕" panose="020B0503020000020004" pitchFamily="50" charset="-127"/>
              </a:rPr>
              <a:t>"18</a:t>
            </a:r>
            <a:r>
              <a:rPr lang="ko-KR" altLang="en-US">
                <a:latin typeface="맑은 고딕" panose="020B0503020000020004" pitchFamily="50" charset="-127"/>
              </a:rPr>
              <a:t>케이스가 더 있습니다</a:t>
            </a:r>
            <a:r>
              <a:rPr lang="en-US" altLang="ko-KR">
                <a:latin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</a:rPr>
              <a:t>한마디로 언급만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=== </a:t>
            </a:r>
            <a:r>
              <a:rPr lang="ko-KR" altLang="en-US">
                <a:latin typeface="맑은 고딕" panose="020B0503020000020004" pitchFamily="50" charset="-127"/>
              </a:rPr>
              <a:t>말할 것 </a:t>
            </a:r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화면이 말 못 하는 것만</a:t>
            </a:r>
            <a:r>
              <a:rPr lang="en-US" altLang="ko-KR">
                <a:latin typeface="맑은 고딕" panose="020B0503020000020004" pitchFamily="50" charset="-127"/>
              </a:rPr>
              <a:t>) ===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타격 중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맞았느냐가 아니라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얼마나 어긋났는지를 잽니다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파울 나면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지금은 늦었습니다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랜덤이 아니라 타이밍 오차에서 계산된 결과입니다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결과 화면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미보정이라고 떠 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상수는 아직 실측 보정 전입니다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송구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정확도만이 아니라 릴리스 구속과 전환 시간까지 남깁니다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AI </a:t>
            </a:r>
            <a:r>
              <a:rPr lang="ko-KR" altLang="en-US">
                <a:latin typeface="맑은 고딕" panose="020B0503020000020004" pitchFamily="50" charset="-127"/>
              </a:rPr>
              <a:t>화면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약점은 계산이 찾았고</a:t>
            </a:r>
            <a:r>
              <a:rPr lang="en-US" altLang="ko-KR">
                <a:latin typeface="맑은 고딕" panose="020B0503020000020004" pitchFamily="50" charset="-127"/>
              </a:rPr>
              <a:t>, AI</a:t>
            </a:r>
            <a:r>
              <a:rPr lang="ko-KR" altLang="en-US">
                <a:latin typeface="맑은 고딕" panose="020B0503020000020004" pitchFamily="50" charset="-127"/>
              </a:rPr>
              <a:t>는 문장으로 옮겼습니다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=== </a:t>
            </a:r>
            <a:r>
              <a:rPr lang="ko-KR" altLang="en-US">
                <a:latin typeface="맑은 고딕" panose="020B0503020000020004" pitchFamily="50" charset="-127"/>
              </a:rPr>
              <a:t>돌발 상황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사과하지 말고 설명으로 전환 </a:t>
            </a:r>
            <a:r>
              <a:rPr lang="en-US" altLang="ko-KR">
                <a:latin typeface="맑은 고딕" panose="020B0503020000020004" pitchFamily="50" charset="-127"/>
              </a:rPr>
              <a:t>===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헛스윙 연속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헛스윙은 </a:t>
            </a:r>
            <a:r>
              <a:rPr lang="en-US" altLang="ko-KR">
                <a:latin typeface="맑은 고딕" panose="020B0503020000020004" pitchFamily="50" charset="-127"/>
              </a:rPr>
              <a:t>0</a:t>
            </a:r>
            <a:r>
              <a:rPr lang="ko-KR" altLang="en-US">
                <a:latin typeface="맑은 고딕" panose="020B0503020000020004" pitchFamily="50" charset="-127"/>
              </a:rPr>
              <a:t>점입니다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안 맞은 건 </a:t>
            </a:r>
            <a:r>
              <a:rPr lang="en-US" altLang="ko-KR">
                <a:latin typeface="맑은 고딕" panose="020B0503020000020004" pitchFamily="50" charset="-127"/>
              </a:rPr>
              <a:t>0</a:t>
            </a:r>
            <a:r>
              <a:rPr lang="ko-KR" altLang="en-US">
                <a:latin typeface="맑은 고딕" panose="020B0503020000020004" pitchFamily="50" charset="-127"/>
              </a:rPr>
              <a:t>으로 확정합니다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파울만 난다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파울도 타이밍 오차에서 나온 결과입니다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AI </a:t>
            </a:r>
            <a:r>
              <a:rPr lang="ko-KR" altLang="en-US">
                <a:latin typeface="맑은 고딕" panose="020B0503020000020004" pitchFamily="50" charset="-127"/>
              </a:rPr>
              <a:t>응답 지연 </a:t>
            </a:r>
            <a:r>
              <a:rPr lang="en-US" altLang="ko-KR">
                <a:latin typeface="맑은 고딕" panose="020B0503020000020004" pitchFamily="50" charset="-127"/>
              </a:rPr>
              <a:t>: "AI</a:t>
            </a:r>
            <a:r>
              <a:rPr lang="ko-KR" altLang="en-US">
                <a:latin typeface="맑은 고딕" panose="020B0503020000020004" pitchFamily="50" charset="-127"/>
              </a:rPr>
              <a:t>가 늦어도 약점 리포트와 드릴은 이미 나와 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그게 이 구조를 택한 이유입니다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포구 계속 놓침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손을 댔는데 빗나간 것과 아예 시도 안 한 걸 따로 셉니다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프레임 튐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에디터 실행입니다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패키징 빌드는 더 가볍습니다</a:t>
            </a:r>
            <a:r>
              <a:rPr lang="en-US" altLang="ko-KR"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크래시 </a:t>
            </a:r>
            <a:r>
              <a:rPr lang="en-US" altLang="ko-KR">
                <a:latin typeface="맑은 고딕" panose="020B0503020000020004" pitchFamily="50" charset="-127"/>
              </a:rPr>
              <a:t>: "</a:t>
            </a:r>
            <a:r>
              <a:rPr lang="ko-KR" altLang="en-US">
                <a:latin typeface="맑은 고딕" panose="020B0503020000020004" pitchFamily="50" charset="-127"/>
              </a:rPr>
              <a:t>잠시만요</a:t>
            </a:r>
            <a:r>
              <a:rPr lang="en-US" altLang="ko-KR">
                <a:latin typeface="맑은 고딕" panose="020B0503020000020004" pitchFamily="50" charset="-127"/>
              </a:rPr>
              <a:t>" </a:t>
            </a:r>
            <a:r>
              <a:rPr lang="ko-KR" altLang="en-US">
                <a:latin typeface="맑은 고딕" panose="020B0503020000020004" pitchFamily="50" charset="-127"/>
              </a:rPr>
              <a:t>한 문장으로 끊고 </a:t>
            </a:r>
            <a:r>
              <a:rPr lang="en-US" altLang="ko-KR">
                <a:latin typeface="맑은 고딕" panose="020B0503020000020004" pitchFamily="50" charset="-127"/>
              </a:rPr>
              <a:t>12</a:t>
            </a:r>
            <a:r>
              <a:rPr lang="ko-KR" altLang="en-US">
                <a:latin typeface="맑은 고딕" panose="020B0503020000020004" pitchFamily="50" charset="-127"/>
              </a:rPr>
              <a:t>번</a:t>
            </a:r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숨김 백업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  <a:r>
              <a:rPr lang="ko-KR" altLang="en-US">
                <a:latin typeface="맑은 고딕" panose="020B0503020000020004" pitchFamily="50" charset="-127"/>
              </a:rPr>
              <a:t>으로 이동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재실행 시도는 </a:t>
            </a:r>
            <a:r>
              <a:rPr lang="en-US" altLang="ko-KR">
                <a:latin typeface="맑은 고딕" panose="020B0503020000020004" pitchFamily="50" charset="-127"/>
              </a:rPr>
              <a:t>1</a:t>
            </a:r>
            <a:r>
              <a:rPr lang="ko-KR" altLang="en-US">
                <a:latin typeface="맑은 고딕" panose="020B0503020000020004" pitchFamily="50" charset="-127"/>
              </a:rPr>
              <a:t>회만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=== </a:t>
            </a:r>
            <a:r>
              <a:rPr lang="ko-KR" altLang="en-US">
                <a:latin typeface="맑은 고딕" panose="020B0503020000020004" pitchFamily="50" charset="-127"/>
              </a:rPr>
              <a:t>시간 관리 </a:t>
            </a:r>
            <a:r>
              <a:rPr lang="en-US" altLang="ko-KR">
                <a:latin typeface="맑은 고딕" panose="020B0503020000020004" pitchFamily="50" charset="-127"/>
              </a:rPr>
              <a:t>===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2:30 </a:t>
            </a:r>
            <a:r>
              <a:rPr lang="ko-KR" altLang="en-US">
                <a:latin typeface="맑은 고딕" panose="020B0503020000020004" pitchFamily="50" charset="-127"/>
              </a:rPr>
              <a:t>을 넘기면 </a:t>
            </a:r>
            <a:r>
              <a:rPr lang="en-US" altLang="ko-KR">
                <a:latin typeface="맑은 고딕" panose="020B0503020000020004" pitchFamily="50" charset="-127"/>
              </a:rPr>
              <a:t>AI </a:t>
            </a:r>
            <a:r>
              <a:rPr lang="ko-KR" altLang="en-US">
                <a:latin typeface="맑은 고딕" panose="020B0503020000020004" pitchFamily="50" charset="-127"/>
              </a:rPr>
              <a:t>코칭 화면만 보여주고 즉시 끊는다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· 3:00 </a:t>
            </a:r>
            <a:r>
              <a:rPr lang="ko-KR" altLang="en-US">
                <a:latin typeface="맑은 고딕" panose="020B0503020000020004" pitchFamily="50" charset="-127"/>
              </a:rPr>
              <a:t>을 넘기면 로드맵</a:t>
            </a:r>
            <a:r>
              <a:rPr lang="en-US" altLang="ko-KR">
                <a:latin typeface="맑은 고딕" panose="020B0503020000020004" pitchFamily="50" charset="-127"/>
              </a:rPr>
              <a:t>(10</a:t>
            </a:r>
            <a:r>
              <a:rPr lang="ko-KR" altLang="en-US">
                <a:latin typeface="맑은 고딕" panose="020B0503020000020004" pitchFamily="50" charset="-127"/>
              </a:rPr>
              <a:t>번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  <a:r>
              <a:rPr lang="ko-KR" altLang="en-US">
                <a:latin typeface="맑은 고딕" panose="020B0503020000020004" pitchFamily="50" charset="-127"/>
              </a:rPr>
              <a:t>을 건너뛰고 마무리</a:t>
            </a:r>
            <a:r>
              <a:rPr lang="en-US" altLang="ko-KR">
                <a:latin typeface="맑은 고딕" panose="020B0503020000020004" pitchFamily="50" charset="-127"/>
              </a:rPr>
              <a:t>(11</a:t>
            </a:r>
            <a:r>
              <a:rPr lang="ko-KR" altLang="en-US">
                <a:latin typeface="맑은 고딕" panose="020B0503020000020004" pitchFamily="50" charset="-127"/>
              </a:rPr>
              <a:t>번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  <a:r>
              <a:rPr lang="ko-KR" altLang="en-US">
                <a:latin typeface="맑은 고딕" panose="020B0503020000020004" pitchFamily="50" charset="-127"/>
              </a:rPr>
              <a:t>로 간다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45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[06:20-06:45] </a:t>
            </a:r>
            <a:r>
              <a:rPr lang="ko-KR" altLang="en-US">
                <a:latin typeface="맑은 고딕" panose="020B0503020000020004" pitchFamily="50" charset="-127"/>
              </a:rPr>
              <a:t>로드맵 </a:t>
            </a:r>
            <a:r>
              <a:rPr lang="en-US" altLang="ko-KR">
                <a:latin typeface="맑은 고딕" panose="020B0503020000020004" pitchFamily="50" charset="-127"/>
              </a:rPr>
              <a:t>· 25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왼쪽이 끝난 것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오른쪽이 남은 것입니다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남은 건 대부분 연동입니다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"Vive </a:t>
            </a:r>
            <a:r>
              <a:rPr lang="ko-KR" altLang="en-US">
                <a:latin typeface="맑은 고딕" panose="020B0503020000020004" pitchFamily="50" charset="-127"/>
              </a:rPr>
              <a:t>실기로 기준 상수를 보정하는 일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그리고 뉴작 </a:t>
            </a:r>
            <a:r>
              <a:rPr lang="en-US" altLang="ko-KR">
                <a:latin typeface="맑은 고딕" panose="020B0503020000020004" pitchFamily="50" charset="-127"/>
              </a:rPr>
              <a:t>LiDAR SDK </a:t>
            </a:r>
            <a:r>
              <a:rPr lang="ko-KR" altLang="en-US">
                <a:latin typeface="맑은 고딕" panose="020B0503020000020004" pitchFamily="50" charset="-127"/>
              </a:rPr>
              <a:t>연동입니다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아까 </a:t>
            </a:r>
            <a:r>
              <a:rPr lang="en-US" altLang="ko-KR">
                <a:latin typeface="맑은 고딕" panose="020B0503020000020004" pitchFamily="50" charset="-127"/>
              </a:rPr>
              <a:t>4</a:t>
            </a:r>
            <a:r>
              <a:rPr lang="ko-KR" altLang="en-US">
                <a:latin typeface="맑은 고딕" panose="020B0503020000020004" pitchFamily="50" charset="-127"/>
              </a:rPr>
              <a:t>번에서 연동 대기로 적어둔 네 모드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신체 인식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반응속도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베이스 러닝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기능성 피트니스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는 전부 </a:t>
            </a:r>
            <a:r>
              <a:rPr lang="en-US" altLang="ko-KR">
                <a:latin typeface="맑은 고딕" panose="020B0503020000020004" pitchFamily="50" charset="-127"/>
              </a:rPr>
              <a:t>LiDAR </a:t>
            </a:r>
            <a:r>
              <a:rPr lang="ko-KR" altLang="en-US">
                <a:latin typeface="맑은 고딕" panose="020B0503020000020004" pitchFamily="50" charset="-127"/>
              </a:rPr>
              <a:t>전신 입력이 필요한 모드입니다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만들다 만 게 아니라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입력 추상화 인터페이스와 </a:t>
            </a:r>
            <a:r>
              <a:rPr lang="en-US" altLang="ko-KR">
                <a:latin typeface="맑은 고딕" panose="020B0503020000020004" pitchFamily="50" charset="-127"/>
              </a:rPr>
              <a:t>Mock </a:t>
            </a:r>
            <a:r>
              <a:rPr lang="ko-KR" altLang="en-US">
                <a:latin typeface="맑은 고딕" panose="020B0503020000020004" pitchFamily="50" charset="-127"/>
              </a:rPr>
              <a:t>구현까지 끝내놔서 </a:t>
            </a:r>
            <a:r>
              <a:rPr lang="en-US" altLang="ko-KR">
                <a:latin typeface="맑은 고딕" panose="020B0503020000020004" pitchFamily="50" charset="-127"/>
              </a:rPr>
              <a:t>SDK</a:t>
            </a:r>
            <a:r>
              <a:rPr lang="ko-KR" altLang="en-US">
                <a:latin typeface="맑은 고딕" panose="020B0503020000020004" pitchFamily="50" charset="-127"/>
              </a:rPr>
              <a:t>에 물리는 순간 열리도록 해뒀습니다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4</a:t>
            </a:r>
            <a:r>
              <a:rPr lang="ko-KR" altLang="en-US">
                <a:latin typeface="맑은 고딕" panose="020B0503020000020004" pitchFamily="50" charset="-127"/>
              </a:rPr>
              <a:t>번에서 미뤄둔 약속을 여기서 회수한다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심사위원이 물어보기 전에 먼저 말하는 것이 핵심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037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[06:45-07:00] </a:t>
            </a:r>
            <a:r>
              <a:rPr lang="ko-KR" altLang="en-US">
                <a:latin typeface="맑은 고딕" panose="020B0503020000020004" pitchFamily="50" charset="-127"/>
              </a:rPr>
              <a:t>마무리 </a:t>
            </a:r>
            <a:r>
              <a:rPr lang="en-US" altLang="ko-KR">
                <a:latin typeface="맑은 고딕" panose="020B0503020000020004" pitchFamily="50" charset="-127"/>
              </a:rPr>
              <a:t>· 15</a:t>
            </a:r>
            <a:r>
              <a:rPr lang="ko-KR" altLang="en-US">
                <a:latin typeface="맑은 고딕" panose="020B0503020000020004" pitchFamily="50" charset="-127"/>
              </a:rPr>
              <a:t>초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교육 쪽은 </a:t>
            </a:r>
            <a:r>
              <a:rPr lang="en-US" altLang="ko-KR">
                <a:latin typeface="맑은 고딕" panose="020B0503020000020004" pitchFamily="50" charset="-127"/>
              </a:rPr>
              <a:t>2023 </a:t>
            </a:r>
            <a:r>
              <a:rPr lang="ko-KR" altLang="en-US">
                <a:latin typeface="맑은 고딕" panose="020B0503020000020004" pitchFamily="50" charset="-127"/>
              </a:rPr>
              <a:t>개정 교육과정 체육 요소에 그대로 매핑됩니다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특히 백업 위치 판단은 몸이 아니라 인지 영역까지 커버합니다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상용화는 </a:t>
            </a:r>
            <a:r>
              <a:rPr lang="en-US" altLang="ko-KR">
                <a:latin typeface="맑은 고딕" panose="020B0503020000020004" pitchFamily="50" charset="-127"/>
              </a:rPr>
              <a:t>SporTrack </a:t>
            </a:r>
            <a:r>
              <a:rPr lang="ko-KR" altLang="en-US">
                <a:latin typeface="맑은 고딕" panose="020B0503020000020004" pitchFamily="50" charset="-127"/>
              </a:rPr>
              <a:t>전시관이라는 경로가 이미 있습니다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계산 계층을 갈아 끼우면 배트가 라켓이 되는 구조라 다른 종목으로도 확장됩니다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  (1</a:t>
            </a:r>
            <a:r>
              <a:rPr lang="ko-KR" altLang="en-US">
                <a:latin typeface="맑은 고딕" panose="020B0503020000020004" pitchFamily="50" charset="-127"/>
              </a:rPr>
              <a:t>초 쉼</a:t>
            </a:r>
            <a:r>
              <a:rPr lang="en-US" altLang="ko-KR">
                <a:latin typeface="맑은 고딕" panose="020B0503020000020004" pitchFamily="50" charset="-127"/>
              </a:rPr>
              <a:t>)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"</a:t>
            </a:r>
            <a:r>
              <a:rPr lang="ko-KR" altLang="en-US">
                <a:latin typeface="맑은 고딕" panose="020B0503020000020004" pitchFamily="50" charset="-127"/>
              </a:rPr>
              <a:t>헤드셋 없이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측정되는 야구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감사합니다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→ </a:t>
            </a:r>
            <a:r>
              <a:rPr lang="ko-KR" altLang="en-US">
                <a:latin typeface="맑은 고딕" panose="020B0503020000020004" pitchFamily="50" charset="-127"/>
              </a:rPr>
              <a:t>오프닝과 같은 톤으로 닫을 것 </a:t>
            </a:r>
            <a:r>
              <a:rPr lang="en-US" altLang="ko-KR">
                <a:latin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</a:rPr>
              <a:t>수미상관</a:t>
            </a:r>
            <a:r>
              <a:rPr lang="en-US" altLang="ko-KR">
                <a:latin typeface="맑은 고딕" panose="020B0503020000020004" pitchFamily="50" charset="-127"/>
              </a:rPr>
              <a:t>). </a:t>
            </a:r>
            <a:r>
              <a:rPr lang="ko-KR" altLang="en-US">
                <a:latin typeface="맑은 고딕" panose="020B0503020000020004" pitchFamily="50" charset="-127"/>
              </a:rPr>
              <a:t>마지막 문장은 서두르지 않는다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08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숨김</a:t>
            </a:r>
            <a:r>
              <a:rPr lang="en-US" altLang="ko-KR">
                <a:latin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</a:rPr>
              <a:t>시연 백업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실행 실패 </a:t>
            </a:r>
            <a:r>
              <a:rPr lang="en-US" altLang="ko-KR">
                <a:latin typeface="맑은 고딕" panose="020B0503020000020004" pitchFamily="50" charset="-127"/>
              </a:rPr>
              <a:t>· </a:t>
            </a:r>
            <a:r>
              <a:rPr lang="ko-KR" altLang="en-US">
                <a:latin typeface="맑은 고딕" panose="020B0503020000020004" pitchFamily="50" charset="-127"/>
              </a:rPr>
              <a:t>크래시 시에만</a:t>
            </a:r>
          </a:p>
          <a:p>
            <a:endParaRPr lang="ko-KR" altLang="en-US">
              <a:latin typeface="맑은 고딕" panose="020B0503020000020004" pitchFamily="50" charset="-127"/>
            </a:endParaRPr>
          </a:p>
          <a:p>
            <a:r>
              <a:rPr lang="ko-KR" altLang="en-US">
                <a:latin typeface="맑은 고딕" panose="020B0503020000020004" pitchFamily="50" charset="-127"/>
              </a:rPr>
              <a:t>슬라이드쇼 중 </a:t>
            </a:r>
            <a:r>
              <a:rPr lang="en-US" altLang="ko-KR">
                <a:latin typeface="맑은 고딕" panose="020B0503020000020004" pitchFamily="50" charset="-127"/>
              </a:rPr>
              <a:t>"12" </a:t>
            </a:r>
            <a:r>
              <a:rPr lang="ko-KR" altLang="en-US">
                <a:latin typeface="맑은 고딕" panose="020B0503020000020004" pitchFamily="50" charset="-127"/>
              </a:rPr>
              <a:t>입력 후 </a:t>
            </a:r>
            <a:r>
              <a:rPr lang="en-US" altLang="ko-KR">
                <a:latin typeface="맑은 고딕" panose="020B0503020000020004" pitchFamily="50" charset="-127"/>
              </a:rPr>
              <a:t>Enter </a:t>
            </a:r>
            <a:r>
              <a:rPr lang="ko-KR" altLang="en-US">
                <a:latin typeface="맑은 고딕" panose="020B0503020000020004" pitchFamily="50" charset="-127"/>
              </a:rPr>
              <a:t>로 즉시 이동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ko-KR" altLang="en-US">
                <a:latin typeface="맑은 고딕" panose="020B0503020000020004" pitchFamily="50" charset="-127"/>
              </a:rPr>
              <a:t>육성 설명 </a:t>
            </a:r>
            <a:r>
              <a:rPr lang="en-US" altLang="ko-KR">
                <a:latin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</a:rPr>
              <a:t>줄</a:t>
            </a:r>
            <a:r>
              <a:rPr lang="en-US" altLang="ko-KR">
                <a:latin typeface="맑은 고딕" panose="020B0503020000020004" pitchFamily="50" charset="-127"/>
              </a:rPr>
              <a:t>: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1. "</a:t>
            </a:r>
            <a:r>
              <a:rPr lang="ko-KR" altLang="en-US">
                <a:latin typeface="맑은 고딕" panose="020B0503020000020004" pitchFamily="50" charset="-127"/>
              </a:rPr>
              <a:t>타격은 스윙마다 배트 속도와 타이밍 오차를 재고</a:t>
            </a:r>
            <a:r>
              <a:rPr lang="en-US" altLang="ko-KR">
                <a:latin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</a:rPr>
              <a:t>세션이 끝나면 정확도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효율</a:t>
            </a:r>
            <a:r>
              <a:rPr lang="en-US" altLang="ko-KR">
                <a:latin typeface="맑은 고딕" panose="020B0503020000020004" pitchFamily="50" charset="-127"/>
              </a:rPr>
              <a:t>·</a:t>
            </a:r>
            <a:r>
              <a:rPr lang="ko-KR" altLang="en-US">
                <a:latin typeface="맑은 고딕" panose="020B0503020000020004" pitchFamily="50" charset="-127"/>
              </a:rPr>
              <a:t>일관성 세 축으로 채점합니다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2. "</a:t>
            </a:r>
            <a:r>
              <a:rPr lang="ko-KR" altLang="en-US">
                <a:latin typeface="맑은 고딕" panose="020B0503020000020004" pitchFamily="50" charset="-127"/>
              </a:rPr>
              <a:t>송구는 정확도만이 아니라 릴리스 구속과 포구에서 송구까지의 전환 시간을 함께 남깁니다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3. "</a:t>
            </a:r>
            <a:r>
              <a:rPr lang="ko-KR" altLang="en-US">
                <a:latin typeface="맑은 고딕" panose="020B0503020000020004" pitchFamily="50" charset="-127"/>
              </a:rPr>
              <a:t>백업 판단은 틀리면 왜 틀렸는지 해설이 붙습니다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그게 이 종목의 핵심 학습 장치입니다</a:t>
            </a:r>
            <a:r>
              <a:rPr lang="en-US" altLang="ko-KR">
                <a:latin typeface="맑은 고딕" panose="020B0503020000020004" pitchFamily="50" charset="-127"/>
              </a:rPr>
              <a:t>."</a:t>
            </a:r>
          </a:p>
          <a:p>
            <a:endParaRPr lang="en-US" altLang="ko-KR">
              <a:latin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</a:rPr>
              <a:t>※ </a:t>
            </a:r>
            <a:r>
              <a:rPr lang="ko-KR" altLang="en-US">
                <a:latin typeface="맑은 고딕" panose="020B0503020000020004" pitchFamily="50" charset="-127"/>
              </a:rPr>
              <a:t>발표 전 실제 스크린샷 </a:t>
            </a:r>
            <a:r>
              <a:rPr lang="en-US" altLang="ko-KR">
                <a:latin typeface="맑은 고딕" panose="020B0503020000020004" pitchFamily="50" charset="-127"/>
              </a:rPr>
              <a:t>3</a:t>
            </a:r>
            <a:r>
              <a:rPr lang="ko-KR" altLang="en-US">
                <a:latin typeface="맑은 고딕" panose="020B0503020000020004" pitchFamily="50" charset="-127"/>
              </a:rPr>
              <a:t>장으로 교체할 것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>
                <a:latin typeface="맑은 고딕" panose="020B0503020000020004" pitchFamily="50" charset="-127"/>
              </a:rPr>
              <a:t>※ </a:t>
            </a:r>
            <a:r>
              <a:rPr lang="ko-KR" altLang="en-US">
                <a:latin typeface="맑은 고딕" panose="020B0503020000020004" pitchFamily="50" charset="-127"/>
              </a:rPr>
              <a:t>가능하면 </a:t>
            </a:r>
            <a:r>
              <a:rPr lang="en-US" altLang="ko-KR">
                <a:latin typeface="맑은 고딕" panose="020B0503020000020004" pitchFamily="50" charset="-127"/>
              </a:rPr>
              <a:t>2</a:t>
            </a:r>
            <a:r>
              <a:rPr lang="ko-KR" altLang="en-US">
                <a:latin typeface="맑은 고딕" panose="020B0503020000020004" pitchFamily="50" charset="-127"/>
              </a:rPr>
              <a:t>분 시연을 미리 녹화해 이 슬라이드에 함께 삽입해 둘 것 </a:t>
            </a:r>
            <a:r>
              <a:rPr lang="en-US" altLang="ko-KR">
                <a:latin typeface="맑은 고딕" panose="020B0503020000020004" pitchFamily="50" charset="-127"/>
              </a:rPr>
              <a:t>— </a:t>
            </a:r>
            <a:r>
              <a:rPr lang="ko-KR" altLang="en-US">
                <a:latin typeface="맑은 고딕" panose="020B0503020000020004" pitchFamily="50" charset="-127"/>
              </a:rPr>
              <a:t>라이브 실패 시 가장 안전한 대안이다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590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숨김</a:t>
            </a:r>
            <a:r>
              <a:rPr lang="en-US" altLang="ko-KR">
                <a:latin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</a:rPr>
              <a:t>질의응답용</a:t>
            </a:r>
            <a:r>
              <a:rPr lang="en-US" altLang="ko-KR">
                <a:latin typeface="맑은 고딕" panose="020B0503020000020004" pitchFamily="50" charset="-127"/>
              </a:rPr>
              <a:t>. </a:t>
            </a:r>
            <a:r>
              <a:rPr lang="ko-KR" altLang="en-US">
                <a:latin typeface="맑은 고딕" panose="020B0503020000020004" pitchFamily="50" charset="-127"/>
              </a:rPr>
              <a:t>질문이 나오면 </a:t>
            </a:r>
            <a:r>
              <a:rPr lang="en-US" altLang="ko-KR">
                <a:latin typeface="맑은 고딕" panose="020B0503020000020004" pitchFamily="50" charset="-127"/>
              </a:rPr>
              <a:t>13 + Enter </a:t>
            </a:r>
            <a:r>
              <a:rPr lang="ko-KR" altLang="en-US">
                <a:latin typeface="맑은 고딕" panose="020B0503020000020004" pitchFamily="50" charset="-127"/>
              </a:rPr>
              <a:t>로 이동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667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숨김</a:t>
            </a:r>
            <a:r>
              <a:rPr lang="en-US" altLang="ko-KR">
                <a:latin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</a:rPr>
              <a:t>질의응답용</a:t>
            </a:r>
            <a:r>
              <a:rPr lang="en-US" altLang="ko-KR">
                <a:latin typeface="맑은 고딕" panose="020B0503020000020004" pitchFamily="50" charset="-127"/>
              </a:rPr>
              <a:t>. 14 + Enter </a:t>
            </a:r>
            <a:r>
              <a:rPr lang="ko-KR" altLang="en-US">
                <a:latin typeface="맑은 고딕" panose="020B0503020000020004" pitchFamily="50" charset="-127"/>
              </a:rPr>
              <a:t>로 이동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881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</a:rPr>
              <a:t>[</a:t>
            </a:r>
            <a:r>
              <a:rPr lang="ko-KR" altLang="en-US">
                <a:latin typeface="맑은 고딕" panose="020B0503020000020004" pitchFamily="50" charset="-127"/>
              </a:rPr>
              <a:t>숨김</a:t>
            </a:r>
            <a:r>
              <a:rPr lang="en-US" altLang="ko-KR">
                <a:latin typeface="맑은 고딕" panose="020B0503020000020004" pitchFamily="50" charset="-127"/>
              </a:rPr>
              <a:t>] </a:t>
            </a:r>
            <a:r>
              <a:rPr lang="ko-KR" altLang="en-US">
                <a:latin typeface="맑은 고딕" panose="020B0503020000020004" pitchFamily="50" charset="-127"/>
              </a:rPr>
              <a:t>질의응답용</a:t>
            </a:r>
            <a:r>
              <a:rPr lang="en-US" altLang="ko-KR">
                <a:latin typeface="맑은 고딕" panose="020B0503020000020004" pitchFamily="50" charset="-127"/>
              </a:rPr>
              <a:t>. 15 + Enter </a:t>
            </a:r>
            <a:r>
              <a:rPr lang="ko-KR" altLang="en-US">
                <a:latin typeface="맑은 고딕" panose="020B0503020000020004" pitchFamily="50" charset="-127"/>
              </a:rPr>
              <a:t>로 이동</a:t>
            </a:r>
            <a:r>
              <a:rPr lang="en-US" altLang="ko-KR">
                <a:latin typeface="맑은 고딕" panose="020B0503020000020004" pitchFamily="50" charset="-127"/>
              </a:rPr>
              <a:t>.</a:t>
            </a:r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6851F-B438-45E0-957B-C3B806234B6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4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A4296-89F9-432C-8C91-676CB624F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9C63CB-70F3-4FE8-8379-396DE91CD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C2ED25-FEFB-493D-B801-46EF7FDB1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9682A-4D1F-421C-8614-B627812E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9EDCB-33FF-4973-B2B8-B07B53A8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40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C87EC-6F71-41C1-B5DB-C1B33403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238F3-18C6-40EE-969B-5840982C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7DBB53-DCFE-4B28-9283-425ABFFF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B7F1F-1DCF-4AF1-91C7-2AE81481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EBE2A9-1E7C-49B3-A810-B123323C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73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03540-0397-4034-B1E3-E9E48639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91B06B-74E5-4200-9A4F-75FC9C0A4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235E3-6739-4083-9A2A-227F458F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8ABDEE-5271-4187-BEBF-F77385A3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E1145-CCFE-4A91-8590-B92A7E23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68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7BE17-6B55-459A-81C7-3ED61C33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D4A370-DCC4-4920-AF29-5085D1977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450DDC-DDF7-43BE-A4F8-A90E0FA9D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25C46-E5CE-42D9-A3C6-63DBE3DD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110435-C7E3-407B-B983-28A55B14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4B4196-3DFB-4225-B7BD-90A5E533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71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EE8BC-134E-4170-8D54-A9CD210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524FE3-C5F6-4E8D-ABA1-16C496840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25558E-6375-4017-9513-5A6516A19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EB230-F87B-4617-8EF1-6035AD47F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9CA616-E897-4D68-822D-C5ED59DE1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4922E8-95C7-4606-97C1-D1E590BB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B79670-992C-416A-AD1E-BB1B33A5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129196-CDD6-49C2-9F49-D02E1FD6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31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97475-2770-4A77-BD38-345D56D2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FAB94D-819A-42D8-9E54-A74C89EA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B8E24B-F13D-4C0A-82EE-4FC26494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FD718B-EF73-42AA-AF92-C1609996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70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8039B1-D93F-4C90-B4E8-837681B7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28C297-36F3-4827-B036-CDFC955B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8D77F0-F60C-4DD2-B948-4C7996AC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38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C5599-63BB-40E6-BCD6-04CF5982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34D9C5-AF7D-49EF-BFD4-0E68DDCE1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3B32AD-B60E-49CD-9D09-5FAB4A79A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951BDA-C6D9-4BBB-9BF0-EFD0F7F5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4578B7-7AF5-4843-82D6-BA19FC2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5CDAD7-F1B6-4A90-9DB6-7562C710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0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E9502-4B73-4001-A1CC-440E6414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0F216F-E6BC-497E-AD84-43C574874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32ED7D-08BF-4662-809C-699B9973E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569E8D-DE84-49C6-B0D7-5C7A3EF2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3B1C6-42F5-4E2C-AD1A-65CBB28A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BA3018-780D-40E5-8C7E-982A2B18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22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8E1A-0813-4631-B318-FDF63D5F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6666FD-F7F9-489C-9F76-2A735A5C9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C1F2BF-0D10-4CCC-B9AB-108E86B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A31DD-DFDD-4E2D-B991-45ACEBEF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ADB39-C795-473C-A21B-139E178F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241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F1B013-3742-4659-AEB5-43A585E6A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3422B5-E378-46D3-892A-BA6246E0D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EE2E8-D855-4B06-BF6E-A3812814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BE22F-4A94-43B6-AD72-5A0D1A0C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0ABF08-E654-4BD9-B9D6-F9A70379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40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1F1768-AA40-4D59-B4CA-C042DFBA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13620A-7FA3-4272-96EC-02CB8CAE7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753883-BE07-4446-890A-67862256C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D4D87-4C1F-48B1-B7C1-CBC36F96DBC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3DE55-DF16-43EF-A142-798733D59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AA4F94-BD1F-481D-B05F-27353AA52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53E65-1D22-40A6-AB67-CFA135EAF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00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FD713859-35E0-4C69-A0B4-464B4227952B}"/>
              </a:ext>
            </a:extLst>
          </p:cNvPr>
          <p:cNvSpPr/>
          <p:nvPr/>
        </p:nvSpPr>
        <p:spPr>
          <a:xfrm>
            <a:off x="7874000" y="1219200"/>
            <a:ext cx="4318000" cy="4318000"/>
          </a:xfrm>
          <a:prstGeom prst="diamond">
            <a:avLst/>
          </a:prstGeom>
          <a:noFill/>
          <a:ln w="15875" cap="flat" cmpd="sng" algn="ctr">
            <a:solidFill>
              <a:srgbClr val="2E7D4F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다이아몬드 2">
            <a:extLst>
              <a:ext uri="{FF2B5EF4-FFF2-40B4-BE49-F238E27FC236}">
                <a16:creationId xmlns:a16="http://schemas.microsoft.com/office/drawing/2014/main" id="{9A5C72CA-D39E-4E92-9D87-7538A411A7F0}"/>
              </a:ext>
            </a:extLst>
          </p:cNvPr>
          <p:cNvSpPr/>
          <p:nvPr/>
        </p:nvSpPr>
        <p:spPr>
          <a:xfrm>
            <a:off x="889000" y="1879600"/>
            <a:ext cx="177800" cy="1778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CA7DA-15DC-4C66-9173-3ED5CEE1588B}"/>
              </a:ext>
            </a:extLst>
          </p:cNvPr>
          <p:cNvSpPr txBox="1"/>
          <p:nvPr/>
        </p:nvSpPr>
        <p:spPr>
          <a:xfrm>
            <a:off x="889000" y="22352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48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SporTrack : Baseball</a:t>
            </a:r>
            <a:endParaRPr lang="ko-KR" altLang="en-US" sz="480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52774-39C6-4C27-832B-927042EA5216}"/>
              </a:ext>
            </a:extLst>
          </p:cNvPr>
          <p:cNvSpPr txBox="1"/>
          <p:nvPr/>
        </p:nvSpPr>
        <p:spPr>
          <a:xfrm>
            <a:off x="889000" y="31242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220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비착용형 </a:t>
            </a:r>
            <a:r>
              <a:rPr lang="en-US" altLang="ko-KR" sz="220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XR </a:t>
            </a:r>
            <a:r>
              <a:rPr lang="ko-KR" altLang="en-US" sz="220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야구 트레이닝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CED88-2228-4112-80B5-03A20674BF64}"/>
              </a:ext>
            </a:extLst>
          </p:cNvPr>
          <p:cNvSpPr txBox="1"/>
          <p:nvPr/>
        </p:nvSpPr>
        <p:spPr>
          <a:xfrm>
            <a:off x="889000" y="39624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2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헤드셋 없이</a:t>
            </a:r>
            <a:r>
              <a:rPr lang="en-US" altLang="ko-KR" sz="2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측정되는 야구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46D59-6F55-410C-8A12-851FEA560423}"/>
              </a:ext>
            </a:extLst>
          </p:cNvPr>
          <p:cNvSpPr txBox="1"/>
          <p:nvPr/>
        </p:nvSpPr>
        <p:spPr>
          <a:xfrm>
            <a:off x="889000" y="5537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MotionBase  ·  2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개발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 AI·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가상융합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(XR)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개발자 경진대회 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(㈜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뉴작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786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74B09B1C-60B1-4229-BE21-1B0CEB0BB5E2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0CAA2-448F-4A4B-A00F-20D81055E880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야구는 최고 인기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체험은 반쪽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173F5-095C-4468-99EE-9FB23D2F4815}"/>
              </a:ext>
            </a:extLst>
          </p:cNvPr>
          <p:cNvSpPr txBox="1"/>
          <p:nvPr/>
        </p:nvSpPr>
        <p:spPr>
          <a:xfrm>
            <a:off x="508000" y="162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72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1,200</a:t>
            </a:r>
            <a:r>
              <a:rPr lang="ko-KR" altLang="en-US" sz="72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0553B-7E48-4C8D-80D9-375BF9D3D115}"/>
              </a:ext>
            </a:extLst>
          </p:cNvPr>
          <p:cNvSpPr txBox="1"/>
          <p:nvPr/>
        </p:nvSpPr>
        <p:spPr>
          <a:xfrm>
            <a:off x="508000" y="2946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KBO </a:t>
            </a:r>
            <a:r>
              <a:rPr lang="ko-KR" altLang="en-US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8B151-3095-40F2-828A-7DA04E39D1B3}"/>
              </a:ext>
            </a:extLst>
          </p:cNvPr>
          <p:cNvSpPr txBox="1"/>
          <p:nvPr/>
        </p:nvSpPr>
        <p:spPr>
          <a:xfrm>
            <a:off x="508000" y="3352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사상 첫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 돌파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20·30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젊은 층이 유입을 견인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3D81BD-8088-4896-9B54-79D31F7C5635}"/>
              </a:ext>
            </a:extLst>
          </p:cNvPr>
          <p:cNvSpPr/>
          <p:nvPr/>
        </p:nvSpPr>
        <p:spPr>
          <a:xfrm>
            <a:off x="5715000" y="1549400"/>
            <a:ext cx="5969000" cy="10922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676600BF-3E98-40FC-A0D4-2A63456EDDB0}"/>
              </a:ext>
            </a:extLst>
          </p:cNvPr>
          <p:cNvSpPr/>
          <p:nvPr/>
        </p:nvSpPr>
        <p:spPr>
          <a:xfrm>
            <a:off x="5994400" y="17526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17E7E-712B-47E9-BC60-77DF228D7842}"/>
              </a:ext>
            </a:extLst>
          </p:cNvPr>
          <p:cNvSpPr txBox="1"/>
          <p:nvPr/>
        </p:nvSpPr>
        <p:spPr>
          <a:xfrm>
            <a:off x="6299200" y="17018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스크린야구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07C9C-6503-4264-9EC9-6267E0D03575}"/>
              </a:ext>
            </a:extLst>
          </p:cNvPr>
          <p:cNvSpPr txBox="1"/>
          <p:nvPr/>
        </p:nvSpPr>
        <p:spPr>
          <a:xfrm>
            <a:off x="6299200" y="20828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타격만 다룬다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주루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판단은 빠져 있다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DAE99A-3E2A-4F15-82A8-5B8E819C3460}"/>
              </a:ext>
            </a:extLst>
          </p:cNvPr>
          <p:cNvSpPr/>
          <p:nvPr/>
        </p:nvSpPr>
        <p:spPr>
          <a:xfrm>
            <a:off x="5715000" y="2844800"/>
            <a:ext cx="5969000" cy="10922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77EA0C75-F251-4281-AC32-9E2BD9FACFEC}"/>
              </a:ext>
            </a:extLst>
          </p:cNvPr>
          <p:cNvSpPr/>
          <p:nvPr/>
        </p:nvSpPr>
        <p:spPr>
          <a:xfrm>
            <a:off x="5994400" y="30480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0DBA4-BD27-4B80-B8A2-EB7F7B31A487}"/>
              </a:ext>
            </a:extLst>
          </p:cNvPr>
          <p:cNvSpPr txBox="1"/>
          <p:nvPr/>
        </p:nvSpPr>
        <p:spPr>
          <a:xfrm>
            <a:off x="6299200" y="29972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HMD VR</a:t>
            </a:r>
            <a:endParaRPr lang="ko-KR" altLang="en-US" sz="160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AB767F-04F2-450A-A4ED-4AA39098C765}"/>
              </a:ext>
            </a:extLst>
          </p:cNvPr>
          <p:cNvSpPr txBox="1"/>
          <p:nvPr/>
        </p:nvSpPr>
        <p:spPr>
          <a:xfrm>
            <a:off x="6299200" y="33782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멀미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플레이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착용 저항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72DDE3C-506D-486E-BC3E-06367656F30A}"/>
              </a:ext>
            </a:extLst>
          </p:cNvPr>
          <p:cNvSpPr/>
          <p:nvPr/>
        </p:nvSpPr>
        <p:spPr>
          <a:xfrm>
            <a:off x="5715000" y="4140200"/>
            <a:ext cx="5969000" cy="10922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ED933916-17CD-4C0D-88BB-4DD8BBE8B8AA}"/>
              </a:ext>
            </a:extLst>
          </p:cNvPr>
          <p:cNvSpPr/>
          <p:nvPr/>
        </p:nvSpPr>
        <p:spPr>
          <a:xfrm>
            <a:off x="5994400" y="43434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64CF34-0DB5-470E-8996-8D1F6575E521}"/>
              </a:ext>
            </a:extLst>
          </p:cNvPr>
          <p:cNvSpPr txBox="1"/>
          <p:nvPr/>
        </p:nvSpPr>
        <p:spPr>
          <a:xfrm>
            <a:off x="6299200" y="42926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실내 연습장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FA268C-19FE-40A3-A7B1-BE20F7115B8A}"/>
              </a:ext>
            </a:extLst>
          </p:cNvPr>
          <p:cNvSpPr txBox="1"/>
          <p:nvPr/>
        </p:nvSpPr>
        <p:spPr>
          <a:xfrm>
            <a:off x="6299200" y="46736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공간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B2A49-F976-4599-9303-AF0BA0AE89B8}"/>
              </a:ext>
            </a:extLst>
          </p:cNvPr>
          <p:cNvSpPr txBox="1"/>
          <p:nvPr/>
        </p:nvSpPr>
        <p:spPr>
          <a:xfrm>
            <a:off x="508000" y="5689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2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야구의 절반인 수비는</a:t>
            </a:r>
            <a:r>
              <a:rPr lang="en-US" altLang="ko-KR" sz="2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아무도 다루지 않습니다</a:t>
            </a:r>
            <a:r>
              <a:rPr lang="en-US" altLang="ko-KR" sz="2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09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DDB83D9A-E58E-433D-AD35-3694F2B5B3FD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CE071-4693-47E9-B7F8-CF0A0730A341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헤드셋을 벗긴 야구 트레이닝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DBDD0-FE02-4AD8-8C67-EFA95BED379B}"/>
              </a:ext>
            </a:extLst>
          </p:cNvPr>
          <p:cNvSpPr txBox="1"/>
          <p:nvPr/>
        </p:nvSpPr>
        <p:spPr>
          <a:xfrm>
            <a:off x="508000" y="1219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뉴작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SporTrack —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헤드셋 미착용 공간형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XR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보드게임 플랫폼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(CES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혁신상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위에 얹는 신규 야구 콘텐츠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공간 투사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베이스 스테이션 추적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1~10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동시 플레이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B8B6E47-1AE1-4FBE-A094-BA0A9E8A543F}"/>
              </a:ext>
            </a:extLst>
          </p:cNvPr>
          <p:cNvSpPr/>
          <p:nvPr/>
        </p:nvSpPr>
        <p:spPr>
          <a:xfrm>
            <a:off x="508000" y="2184400"/>
            <a:ext cx="3352800" cy="320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599D9D63-4896-47DD-89E6-5AD33BA7EA34}"/>
              </a:ext>
            </a:extLst>
          </p:cNvPr>
          <p:cNvSpPr/>
          <p:nvPr/>
        </p:nvSpPr>
        <p:spPr>
          <a:xfrm>
            <a:off x="787400" y="2463800"/>
            <a:ext cx="431800" cy="4318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10161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500" b="1">
              <a:solidFill>
                <a:srgbClr val="10161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CC1B2-0D07-4DF4-A796-C2D397034E43}"/>
              </a:ext>
            </a:extLst>
          </p:cNvPr>
          <p:cNvSpPr txBox="1"/>
          <p:nvPr/>
        </p:nvSpPr>
        <p:spPr>
          <a:xfrm>
            <a:off x="787400" y="3098800"/>
            <a:ext cx="279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Non-HMD</a:t>
            </a:r>
            <a:endParaRPr lang="ko-KR" altLang="en-US" sz="190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A867F-296A-4E35-84B2-FCF0E061B835}"/>
              </a:ext>
            </a:extLst>
          </p:cNvPr>
          <p:cNvSpPr txBox="1"/>
          <p:nvPr/>
        </p:nvSpPr>
        <p:spPr>
          <a:xfrm>
            <a:off x="787400" y="3606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헤드셋을 벗겼습니다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674E5-6289-4DEB-B8E8-DC37F4AA1230}"/>
              </a:ext>
            </a:extLst>
          </p:cNvPr>
          <p:cNvSpPr txBox="1"/>
          <p:nvPr/>
        </p:nvSpPr>
        <p:spPr>
          <a:xfrm>
            <a:off x="787400" y="4292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멀미가 없고 여러 명이 동시에 합니다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학교와 전시관에 그대로 들어갑니다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87CAEE0-F7B4-41C0-9A28-D54467831A73}"/>
              </a:ext>
            </a:extLst>
          </p:cNvPr>
          <p:cNvSpPr/>
          <p:nvPr/>
        </p:nvSpPr>
        <p:spPr>
          <a:xfrm>
            <a:off x="4419600" y="2184400"/>
            <a:ext cx="3352800" cy="320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358C0CA1-DF9B-4D9F-A76C-AB2283CBA51C}"/>
              </a:ext>
            </a:extLst>
          </p:cNvPr>
          <p:cNvSpPr/>
          <p:nvPr/>
        </p:nvSpPr>
        <p:spPr>
          <a:xfrm>
            <a:off x="4699000" y="2463800"/>
            <a:ext cx="431800" cy="4318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10161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500" b="1">
              <a:solidFill>
                <a:srgbClr val="10161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FBA88-13E9-498D-B304-0503F8507DAA}"/>
              </a:ext>
            </a:extLst>
          </p:cNvPr>
          <p:cNvSpPr txBox="1"/>
          <p:nvPr/>
        </p:nvSpPr>
        <p:spPr>
          <a:xfrm>
            <a:off x="4699000" y="3098800"/>
            <a:ext cx="279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스윙 물리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AB4F0-CB67-411F-9419-EAB590337362}"/>
              </a:ext>
            </a:extLst>
          </p:cNvPr>
          <p:cNvSpPr txBox="1"/>
          <p:nvPr/>
        </p:nvSpPr>
        <p:spPr>
          <a:xfrm>
            <a:off x="4699000" y="3606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v_tip = v_hand + </a:t>
            </a:r>
            <a:r>
              <a:rPr lang="el-GR" altLang="ko-KR" sz="1400" b="1">
                <a:solidFill>
                  <a:srgbClr val="E8B23A"/>
                </a:solidFill>
                <a:ea typeface="맑은 고딕" panose="020B0503020000020004" pitchFamily="50" charset="-127"/>
              </a:rPr>
              <a:t>ω × </a:t>
            </a:r>
            <a:r>
              <a:rPr lang="en-US" altLang="ko-KR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</a:t>
            </a:r>
            <a:endParaRPr lang="ko-KR" altLang="en-US" sz="14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8891B9-453F-4CD7-A359-236E2D65DC41}"/>
              </a:ext>
            </a:extLst>
          </p:cNvPr>
          <p:cNvSpPr txBox="1"/>
          <p:nvPr/>
        </p:nvSpPr>
        <p:spPr>
          <a:xfrm>
            <a:off x="4699000" y="4292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맞았는지가 아니라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얼마나 어긋났는지를 잽니다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배트 헤드 속도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타이밍 오차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스위트스팟 이격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B0584EC-08AF-44B7-8AE4-ECBF04366676}"/>
              </a:ext>
            </a:extLst>
          </p:cNvPr>
          <p:cNvSpPr/>
          <p:nvPr/>
        </p:nvSpPr>
        <p:spPr>
          <a:xfrm>
            <a:off x="8331200" y="2184400"/>
            <a:ext cx="3352800" cy="320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84608B2E-3639-49B2-A033-213BABE4DF19}"/>
              </a:ext>
            </a:extLst>
          </p:cNvPr>
          <p:cNvSpPr/>
          <p:nvPr/>
        </p:nvSpPr>
        <p:spPr>
          <a:xfrm>
            <a:off x="8610600" y="2463800"/>
            <a:ext cx="431800" cy="4318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10161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500" b="1">
              <a:solidFill>
                <a:srgbClr val="10161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162183-5F67-4B7F-8097-D047381D93C7}"/>
              </a:ext>
            </a:extLst>
          </p:cNvPr>
          <p:cNvSpPr txBox="1"/>
          <p:nvPr/>
        </p:nvSpPr>
        <p:spPr>
          <a:xfrm>
            <a:off x="8610600" y="3098800"/>
            <a:ext cx="279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가능한 </a:t>
            </a:r>
            <a:r>
              <a:rPr lang="en-US" altLang="ko-KR" sz="1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190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158D60-A560-432D-A2D8-A334BD72BA1B}"/>
              </a:ext>
            </a:extLst>
          </p:cNvPr>
          <p:cNvSpPr txBox="1"/>
          <p:nvPr/>
        </p:nvSpPr>
        <p:spPr>
          <a:xfrm>
            <a:off x="8610600" y="3606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숫자를 못 지어냅니다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427C45-703D-4B1C-9E46-67E6CF0D347F}"/>
              </a:ext>
            </a:extLst>
          </p:cNvPr>
          <p:cNvSpPr txBox="1"/>
          <p:nvPr/>
        </p:nvSpPr>
        <p:spPr>
          <a:xfrm>
            <a:off x="8610600" y="4292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 판별은 결정론적 계산이 맡고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AI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그 숫자를 문장으로 옮기는 역할만 합니다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645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39993D20-FC80-4E54-BC02-583A07290D8D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AE77C-2F83-4832-8658-52F1E8A2B794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실제로 돌아갑니다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87625EA-3857-4732-8F8C-FD20AA582D9A}"/>
              </a:ext>
            </a:extLst>
          </p:cNvPr>
          <p:cNvSpPr/>
          <p:nvPr/>
        </p:nvSpPr>
        <p:spPr>
          <a:xfrm>
            <a:off x="8890000" y="482600"/>
            <a:ext cx="2794000" cy="5080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4DB1B-C81A-47B7-B02D-C52966D6ACBC}"/>
              </a:ext>
            </a:extLst>
          </p:cNvPr>
          <p:cNvSpPr txBox="1"/>
          <p:nvPr/>
        </p:nvSpPr>
        <p:spPr>
          <a:xfrm>
            <a:off x="8890000" y="635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40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C++ 16,235</a:t>
            </a:r>
            <a:r>
              <a:rPr lang="ko-KR" altLang="en-US" sz="140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</a:t>
            </a:r>
            <a:r>
              <a:rPr lang="en-US" altLang="ko-KR" sz="140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82</a:t>
            </a:r>
            <a:r>
              <a:rPr lang="ko-KR" altLang="en-US" sz="140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6F3A67C-0293-41A7-A143-268CEFA8763E}"/>
              </a:ext>
            </a:extLst>
          </p:cNvPr>
          <p:cNvSpPr/>
          <p:nvPr/>
        </p:nvSpPr>
        <p:spPr>
          <a:xfrm>
            <a:off x="508000" y="1371600"/>
            <a:ext cx="11176000" cy="939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087E8939-CEB6-4E37-A1D8-2FED7EB4740C}"/>
              </a:ext>
            </a:extLst>
          </p:cNvPr>
          <p:cNvSpPr/>
          <p:nvPr/>
        </p:nvSpPr>
        <p:spPr>
          <a:xfrm>
            <a:off x="787400" y="1765300"/>
            <a:ext cx="127000" cy="1270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C21F5-A35F-41F0-9E47-CF12B0E1AC8F}"/>
              </a:ext>
            </a:extLst>
          </p:cNvPr>
          <p:cNvSpPr txBox="1"/>
          <p:nvPr/>
        </p:nvSpPr>
        <p:spPr>
          <a:xfrm>
            <a:off x="1066800" y="1689100"/>
            <a:ext cx="2108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11B67-A9AF-4E26-A338-4A05B92CBC4D}"/>
              </a:ext>
            </a:extLst>
          </p:cNvPr>
          <p:cNvSpPr txBox="1"/>
          <p:nvPr/>
        </p:nvSpPr>
        <p:spPr>
          <a:xfrm>
            <a:off x="3327400" y="1701800"/>
            <a:ext cx="441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구종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코스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구속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볼카운트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동적 난이도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좌우 타석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C1ECD-87FD-4779-B63B-4D9924BD8675}"/>
              </a:ext>
            </a:extLst>
          </p:cNvPr>
          <p:cNvSpPr txBox="1"/>
          <p:nvPr/>
        </p:nvSpPr>
        <p:spPr>
          <a:xfrm>
            <a:off x="7950200" y="1701800"/>
            <a:ext cx="347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배트 속도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타이밍 오차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스위트스팟 이격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7E7BF4-04DF-4C94-A27D-84FD11760188}"/>
              </a:ext>
            </a:extLst>
          </p:cNvPr>
          <p:cNvSpPr/>
          <p:nvPr/>
        </p:nvSpPr>
        <p:spPr>
          <a:xfrm>
            <a:off x="508000" y="2451100"/>
            <a:ext cx="11176000" cy="939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301456A2-F97B-4001-8867-B11538F0740E}"/>
              </a:ext>
            </a:extLst>
          </p:cNvPr>
          <p:cNvSpPr/>
          <p:nvPr/>
        </p:nvSpPr>
        <p:spPr>
          <a:xfrm>
            <a:off x="787400" y="2844800"/>
            <a:ext cx="127000" cy="1270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1F0712-DCC8-4FA1-B0E8-760859911DC7}"/>
              </a:ext>
            </a:extLst>
          </p:cNvPr>
          <p:cNvSpPr txBox="1"/>
          <p:nvPr/>
        </p:nvSpPr>
        <p:spPr>
          <a:xfrm>
            <a:off x="1066800" y="2768600"/>
            <a:ext cx="2108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 </a:t>
            </a:r>
            <a:r>
              <a:rPr lang="en-US" altLang="ko-KR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C0CC72-2DD6-48B2-8693-9B32D2B1C112}"/>
              </a:ext>
            </a:extLst>
          </p:cNvPr>
          <p:cNvSpPr txBox="1"/>
          <p:nvPr/>
        </p:nvSpPr>
        <p:spPr>
          <a:xfrm>
            <a:off x="3327400" y="2781300"/>
            <a:ext cx="441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땅볼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뜬공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라인드라이브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유형별 체공시간과 허용 반경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A40E89-630E-452F-BDAA-711F491EBA92}"/>
              </a:ext>
            </a:extLst>
          </p:cNvPr>
          <p:cNvSpPr txBox="1"/>
          <p:nvPr/>
        </p:nvSpPr>
        <p:spPr>
          <a:xfrm>
            <a:off x="7950200" y="2781300"/>
            <a:ext cx="347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성공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헛손질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놓침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D383FE9-6AC7-4538-BF59-167FABF2D5F3}"/>
              </a:ext>
            </a:extLst>
          </p:cNvPr>
          <p:cNvSpPr/>
          <p:nvPr/>
        </p:nvSpPr>
        <p:spPr>
          <a:xfrm>
            <a:off x="508000" y="3530600"/>
            <a:ext cx="11176000" cy="939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다이아몬드 16">
            <a:extLst>
              <a:ext uri="{FF2B5EF4-FFF2-40B4-BE49-F238E27FC236}">
                <a16:creationId xmlns:a16="http://schemas.microsoft.com/office/drawing/2014/main" id="{4ED50AE2-E9FA-4A4D-BF31-E2A8FBF2A910}"/>
              </a:ext>
            </a:extLst>
          </p:cNvPr>
          <p:cNvSpPr/>
          <p:nvPr/>
        </p:nvSpPr>
        <p:spPr>
          <a:xfrm>
            <a:off x="787400" y="3924300"/>
            <a:ext cx="127000" cy="1270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16316-7A68-431C-A07E-46D1308F34D1}"/>
              </a:ext>
            </a:extLst>
          </p:cNvPr>
          <p:cNvSpPr txBox="1"/>
          <p:nvPr/>
        </p:nvSpPr>
        <p:spPr>
          <a:xfrm>
            <a:off x="1066800" y="3848100"/>
            <a:ext cx="2108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 </a:t>
            </a:r>
            <a:r>
              <a:rPr lang="en-US" altLang="ko-KR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3458C-B39F-4AA9-806D-2FFA9ADCB082}"/>
              </a:ext>
            </a:extLst>
          </p:cNvPr>
          <p:cNvSpPr txBox="1"/>
          <p:nvPr/>
        </p:nvSpPr>
        <p:spPr>
          <a:xfrm>
            <a:off x="3327400" y="3860800"/>
            <a:ext cx="441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베이스 콜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파워 충전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궤적 예측선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791745-3009-41CA-8897-BA0B3F3BA5B9}"/>
              </a:ext>
            </a:extLst>
          </p:cNvPr>
          <p:cNvSpPr txBox="1"/>
          <p:nvPr/>
        </p:nvSpPr>
        <p:spPr>
          <a:xfrm>
            <a:off x="7950200" y="3860800"/>
            <a:ext cx="347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구속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전환 시간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98B0876-80B8-4740-A244-F2CFB1821909}"/>
              </a:ext>
            </a:extLst>
          </p:cNvPr>
          <p:cNvSpPr/>
          <p:nvPr/>
        </p:nvSpPr>
        <p:spPr>
          <a:xfrm>
            <a:off x="508000" y="4610100"/>
            <a:ext cx="11176000" cy="939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다이아몬드 21">
            <a:extLst>
              <a:ext uri="{FF2B5EF4-FFF2-40B4-BE49-F238E27FC236}">
                <a16:creationId xmlns:a16="http://schemas.microsoft.com/office/drawing/2014/main" id="{2F537AD0-8891-46B4-96F1-519965946246}"/>
              </a:ext>
            </a:extLst>
          </p:cNvPr>
          <p:cNvSpPr/>
          <p:nvPr/>
        </p:nvSpPr>
        <p:spPr>
          <a:xfrm>
            <a:off x="787400" y="5003800"/>
            <a:ext cx="127000" cy="1270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61861F-407F-45A2-A1E6-473C3621876D}"/>
              </a:ext>
            </a:extLst>
          </p:cNvPr>
          <p:cNvSpPr txBox="1"/>
          <p:nvPr/>
        </p:nvSpPr>
        <p:spPr>
          <a:xfrm>
            <a:off x="1066800" y="4927600"/>
            <a:ext cx="2108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 </a:t>
            </a:r>
            <a:r>
              <a:rPr lang="en-US" altLang="ko-KR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백업 판단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7F1E02-ADC4-4680-84BB-F8E01FB6A5C4}"/>
              </a:ext>
            </a:extLst>
          </p:cNvPr>
          <p:cNvSpPr txBox="1"/>
          <p:nvPr/>
        </p:nvSpPr>
        <p:spPr>
          <a:xfrm>
            <a:off x="3327400" y="4940300"/>
            <a:ext cx="441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포지션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타구 방향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주자 상황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케이스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오답 시 해설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AEB330-CDEB-4FB8-988B-67B9EEC970F2}"/>
              </a:ext>
            </a:extLst>
          </p:cNvPr>
          <p:cNvSpPr txBox="1"/>
          <p:nvPr/>
        </p:nvSpPr>
        <p:spPr>
          <a:xfrm>
            <a:off x="7950200" y="4940300"/>
            <a:ext cx="347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정답률 </a:t>
            </a:r>
            <a:r>
              <a:rPr lang="en-US" altLang="ko-KR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시간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DBA4DC-26C6-413C-9380-0F627ED916D8}"/>
              </a:ext>
            </a:extLst>
          </p:cNvPr>
          <p:cNvSpPr txBox="1"/>
          <p:nvPr/>
        </p:nvSpPr>
        <p:spPr>
          <a:xfrm>
            <a:off x="508000" y="5791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AI </a:t>
            </a:r>
            <a:r>
              <a:rPr lang="ko-KR" altLang="en-US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코칭 리뷰 화면 </a:t>
            </a:r>
            <a:r>
              <a:rPr lang="en-US" altLang="ko-KR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 이력에서 만성 약점 추세를 읽는 전용 화면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59CC96-353E-40DB-A984-D6A3A01902B4}"/>
              </a:ext>
            </a:extLst>
          </p:cNvPr>
          <p:cNvSpPr txBox="1"/>
          <p:nvPr/>
        </p:nvSpPr>
        <p:spPr>
          <a:xfrm>
            <a:off x="508000" y="61468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 대기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(LiDAR) :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신체 인식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반응속도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베이스 러닝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기능성 피트니스</a:t>
            </a:r>
          </a:p>
        </p:txBody>
      </p:sp>
    </p:spTree>
    <p:extLst>
      <p:ext uri="{BB962C8B-B14F-4D97-AF65-F5344CB8AC3E}">
        <p14:creationId xmlns:p14="http://schemas.microsoft.com/office/powerpoint/2010/main" val="261706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D258D084-E7A5-4131-8FDF-9C47ACD29576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A6AE6-1E4B-4249-9FD8-FDC9D2D03E46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계산을 엔진에서 떼어냈습니다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32915DA-1112-4F95-AE93-F3434E0C4212}"/>
              </a:ext>
            </a:extLst>
          </p:cNvPr>
          <p:cNvSpPr/>
          <p:nvPr/>
        </p:nvSpPr>
        <p:spPr>
          <a:xfrm>
            <a:off x="508000" y="1371600"/>
            <a:ext cx="5588000" cy="787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AF28A-0089-40CD-8198-F822A2856807}"/>
              </a:ext>
            </a:extLst>
          </p:cNvPr>
          <p:cNvSpPr txBox="1"/>
          <p:nvPr/>
        </p:nvSpPr>
        <p:spPr>
          <a:xfrm>
            <a:off x="787400" y="15113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Actor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계층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ABat / APitchingZone</a:t>
            </a:r>
            <a:endParaRPr lang="ko-KR" altLang="en-US" sz="14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1DBE6-1903-4796-81E0-BDF18BFB42C3}"/>
              </a:ext>
            </a:extLst>
          </p:cNvPr>
          <p:cNvSpPr txBox="1"/>
          <p:nvPr/>
        </p:nvSpPr>
        <p:spPr>
          <a:xfrm>
            <a:off x="787400" y="180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수집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연출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충돌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UI</a:t>
            </a:r>
            <a:endParaRPr lang="ko-KR" altLang="en-US" sz="11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AA113FA1-F400-4AA8-863B-587C07CFA0AA}"/>
              </a:ext>
            </a:extLst>
          </p:cNvPr>
          <p:cNvSpPr/>
          <p:nvPr/>
        </p:nvSpPr>
        <p:spPr>
          <a:xfrm>
            <a:off x="3200400" y="2209800"/>
            <a:ext cx="203200" cy="203200"/>
          </a:xfrm>
          <a:prstGeom prst="downArrow">
            <a:avLst/>
          </a:prstGeom>
          <a:solidFill>
            <a:srgbClr val="2E7D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D7C2B7-3CA4-44B7-85F5-775A0BFA4B57}"/>
              </a:ext>
            </a:extLst>
          </p:cNvPr>
          <p:cNvSpPr/>
          <p:nvPr/>
        </p:nvSpPr>
        <p:spPr>
          <a:xfrm>
            <a:off x="508000" y="2438400"/>
            <a:ext cx="5588000" cy="787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6E2FD-7F3C-4529-89C0-7D2E6187814A}"/>
              </a:ext>
            </a:extLst>
          </p:cNvPr>
          <p:cNvSpPr txBox="1"/>
          <p:nvPr/>
        </p:nvSpPr>
        <p:spPr>
          <a:xfrm>
            <a:off x="787400" y="25781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계층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USwingAnalyzer</a:t>
            </a:r>
            <a:endParaRPr lang="ko-KR" altLang="en-US" sz="14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21B40B-6B11-45CC-AB8D-0754585D2AB0}"/>
              </a:ext>
            </a:extLst>
          </p:cNvPr>
          <p:cNvSpPr txBox="1"/>
          <p:nvPr/>
        </p:nvSpPr>
        <p:spPr>
          <a:xfrm>
            <a:off x="787400" y="2870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순수 로직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UE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렌더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액터에 의존하지 않음</a:t>
            </a: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AB398C1-89E1-4932-A60C-93E2E0E74002}"/>
              </a:ext>
            </a:extLst>
          </p:cNvPr>
          <p:cNvSpPr/>
          <p:nvPr/>
        </p:nvSpPr>
        <p:spPr>
          <a:xfrm>
            <a:off x="3200400" y="3276600"/>
            <a:ext cx="203200" cy="203200"/>
          </a:xfrm>
          <a:prstGeom prst="downArrow">
            <a:avLst/>
          </a:prstGeom>
          <a:solidFill>
            <a:srgbClr val="2E7D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133114E-DC48-4394-82D0-8A4C61701D72}"/>
              </a:ext>
            </a:extLst>
          </p:cNvPr>
          <p:cNvSpPr/>
          <p:nvPr/>
        </p:nvSpPr>
        <p:spPr>
          <a:xfrm>
            <a:off x="508000" y="3505200"/>
            <a:ext cx="5588000" cy="787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D7AAD-C0F5-493E-9583-8C07AA07853F}"/>
              </a:ext>
            </a:extLst>
          </p:cNvPr>
          <p:cNvSpPr txBox="1"/>
          <p:nvPr/>
        </p:nvSpPr>
        <p:spPr>
          <a:xfrm>
            <a:off x="787400" y="36449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계층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UScoringService</a:t>
            </a:r>
            <a:endParaRPr lang="ko-KR" altLang="en-US" sz="14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DBCB6-7018-42F5-8AFB-A54A1AE3B7D6}"/>
              </a:ext>
            </a:extLst>
          </p:cNvPr>
          <p:cNvSpPr txBox="1"/>
          <p:nvPr/>
        </p:nvSpPr>
        <p:spPr>
          <a:xfrm>
            <a:off x="787400" y="3937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 가중합 →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FScoreResult</a:t>
            </a:r>
            <a:endParaRPr lang="ko-KR" altLang="en-US" sz="11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FE5E6A3F-6EA4-4FAB-84D2-42852F847955}"/>
              </a:ext>
            </a:extLst>
          </p:cNvPr>
          <p:cNvSpPr/>
          <p:nvPr/>
        </p:nvSpPr>
        <p:spPr>
          <a:xfrm>
            <a:off x="3200400" y="4343400"/>
            <a:ext cx="203200" cy="203200"/>
          </a:xfrm>
          <a:prstGeom prst="downArrow">
            <a:avLst/>
          </a:prstGeom>
          <a:solidFill>
            <a:srgbClr val="2E7D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4487D05-9ED6-4B8A-830F-8DDA081BD1B1}"/>
              </a:ext>
            </a:extLst>
          </p:cNvPr>
          <p:cNvSpPr/>
          <p:nvPr/>
        </p:nvSpPr>
        <p:spPr>
          <a:xfrm>
            <a:off x="508000" y="4572000"/>
            <a:ext cx="5588000" cy="787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0C371-92BF-4D81-8D87-C638AA067E02}"/>
              </a:ext>
            </a:extLst>
          </p:cNvPr>
          <p:cNvSpPr txBox="1"/>
          <p:nvPr/>
        </p:nvSpPr>
        <p:spPr>
          <a:xfrm>
            <a:off x="787400" y="47117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SaveGame / AIFeedbackService</a:t>
            </a:r>
            <a:endParaRPr lang="ko-KR" altLang="en-US" sz="14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4D85C3-44BF-4675-994C-75986EAED61F}"/>
              </a:ext>
            </a:extLst>
          </p:cNvPr>
          <p:cNvSpPr txBox="1"/>
          <p:nvPr/>
        </p:nvSpPr>
        <p:spPr>
          <a:xfrm>
            <a:off x="787400" y="5003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기록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생성형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53AEA9-29D8-4D0D-8567-3D9B99CC5328}"/>
              </a:ext>
            </a:extLst>
          </p:cNvPr>
          <p:cNvSpPr/>
          <p:nvPr/>
        </p:nvSpPr>
        <p:spPr>
          <a:xfrm>
            <a:off x="6477000" y="1371600"/>
            <a:ext cx="5207000" cy="17526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39BB2637-287D-4983-94B6-8504A8DE665F}"/>
              </a:ext>
            </a:extLst>
          </p:cNvPr>
          <p:cNvSpPr/>
          <p:nvPr/>
        </p:nvSpPr>
        <p:spPr>
          <a:xfrm>
            <a:off x="6781800" y="1651000"/>
            <a:ext cx="139700" cy="1397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414838-FA63-48CF-8EE9-97594B7E6DBE}"/>
              </a:ext>
            </a:extLst>
          </p:cNvPr>
          <p:cNvSpPr txBox="1"/>
          <p:nvPr/>
        </p:nvSpPr>
        <p:spPr>
          <a:xfrm>
            <a:off x="7086600" y="1574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없이 먼저 검증했다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F5EFF0-31CC-450F-AF17-EB7EA8F06A59}"/>
              </a:ext>
            </a:extLst>
          </p:cNvPr>
          <p:cNvSpPr txBox="1"/>
          <p:nvPr/>
        </p:nvSpPr>
        <p:spPr>
          <a:xfrm>
            <a:off x="6781800" y="20574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계층이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UE·Vive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붙어 있지 않습니다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Vive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LiDAR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수급이 늦어져도 로직 개발이 멈추지 않았습니다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DD66251-C9C0-499F-95B9-77907C934911}"/>
              </a:ext>
            </a:extLst>
          </p:cNvPr>
          <p:cNvSpPr/>
          <p:nvPr/>
        </p:nvSpPr>
        <p:spPr>
          <a:xfrm>
            <a:off x="6477000" y="3327400"/>
            <a:ext cx="5207000" cy="1752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다이아몬드 23">
            <a:extLst>
              <a:ext uri="{FF2B5EF4-FFF2-40B4-BE49-F238E27FC236}">
                <a16:creationId xmlns:a16="http://schemas.microsoft.com/office/drawing/2014/main" id="{4E5D165E-8106-4598-BB66-CB9778657F95}"/>
              </a:ext>
            </a:extLst>
          </p:cNvPr>
          <p:cNvSpPr/>
          <p:nvPr/>
        </p:nvSpPr>
        <p:spPr>
          <a:xfrm>
            <a:off x="6781800" y="36068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2A5D96-190F-4197-966D-3AE4EF7C91C4}"/>
              </a:ext>
            </a:extLst>
          </p:cNvPr>
          <p:cNvSpPr txBox="1"/>
          <p:nvPr/>
        </p:nvSpPr>
        <p:spPr>
          <a:xfrm>
            <a:off x="7086600" y="3530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경계가 </a:t>
            </a:r>
            <a:r>
              <a:rPr lang="en-US" altLang="ko-KR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인의 분할선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868FDF-91DF-483A-A8A7-CB0920433300}"/>
              </a:ext>
            </a:extLst>
          </p:cNvPr>
          <p:cNvSpPr txBox="1"/>
          <p:nvPr/>
        </p:nvSpPr>
        <p:spPr>
          <a:xfrm>
            <a:off x="6781800" y="4013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경계를 따라 타격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·AI /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인터페이스로 브랜치를 나눠 병렬 개발했습니다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D4811-2E2A-44EB-844B-2A64C7DA712F}"/>
              </a:ext>
            </a:extLst>
          </p:cNvPr>
          <p:cNvSpPr txBox="1"/>
          <p:nvPr/>
        </p:nvSpPr>
        <p:spPr>
          <a:xfrm>
            <a:off x="508000" y="5689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Unreal Engine 5.8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단독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(C++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로직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절차적 생성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· OpenXR 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서버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DB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</a:p>
          <a:p>
            <a:pPr>
              <a:lnSpc>
                <a:spcPct val="115000"/>
              </a:lnSpc>
            </a:pP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UMG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에셋 없이 코드로 그립니다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에셋이 빠져서 조용히 죽는 일이 없도록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40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6CA8A3DD-C2B2-43B0-AA3F-AE420D09F058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F4D42-E1F3-45E2-99FB-24CEF7157213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첫 번째 입력일 뿐입니다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3F4FF61-7D2E-43EB-9947-5CDE9F49968D}"/>
              </a:ext>
            </a:extLst>
          </p:cNvPr>
          <p:cNvSpPr/>
          <p:nvPr/>
        </p:nvSpPr>
        <p:spPr>
          <a:xfrm>
            <a:off x="508000" y="1219200"/>
            <a:ext cx="11176000" cy="8382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9C3A502D-D328-4E86-910E-B5D5CC618106}"/>
              </a:ext>
            </a:extLst>
          </p:cNvPr>
          <p:cNvSpPr/>
          <p:nvPr/>
        </p:nvSpPr>
        <p:spPr>
          <a:xfrm>
            <a:off x="812800" y="14478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6402C-A9E2-4424-9512-DD537DF73957}"/>
              </a:ext>
            </a:extLst>
          </p:cNvPr>
          <p:cNvSpPr txBox="1"/>
          <p:nvPr/>
        </p:nvSpPr>
        <p:spPr>
          <a:xfrm>
            <a:off x="1117600" y="13970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구현은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기반입니다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SporTrack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바닥 투사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LiDAR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환경과 다릅니다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LiDAR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플랫폼 장비라 대여 목록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(HTC Vive Pro)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없었습니다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없는 센서를 기다리는 대신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입력을 추상화하고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첫 구현체로 썼습니다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3430D5-02CF-4994-BCD9-E57F801E0A2F}"/>
              </a:ext>
            </a:extLst>
          </p:cNvPr>
          <p:cNvSpPr/>
          <p:nvPr/>
        </p:nvSpPr>
        <p:spPr>
          <a:xfrm>
            <a:off x="508000" y="2286000"/>
            <a:ext cx="3352800" cy="226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1048B-4075-48E1-A72B-2114E6612CDD}"/>
              </a:ext>
            </a:extLst>
          </p:cNvPr>
          <p:cNvSpPr txBox="1"/>
          <p:nvPr/>
        </p:nvSpPr>
        <p:spPr>
          <a:xfrm>
            <a:off x="762000" y="2514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그대로 간다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00F41-AAAE-454F-A9D8-2F5939550386}"/>
              </a:ext>
            </a:extLst>
          </p:cNvPr>
          <p:cNvSpPr txBox="1"/>
          <p:nvPr/>
        </p:nvSpPr>
        <p:spPr>
          <a:xfrm>
            <a:off x="762000" y="2921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2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4,768</a:t>
            </a:r>
            <a:r>
              <a:rPr lang="ko-KR" altLang="en-US" sz="2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86AA1-2F93-4870-886B-316D86F8B08F}"/>
              </a:ext>
            </a:extLst>
          </p:cNvPr>
          <p:cNvSpPr txBox="1"/>
          <p:nvPr/>
        </p:nvSpPr>
        <p:spPr>
          <a:xfrm>
            <a:off x="762000" y="3530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채점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 판별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드릴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·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센서가 아니라 숫자를 받습니다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1F73363-492E-48EB-A5CF-0A7D8F4E5DB7}"/>
              </a:ext>
            </a:extLst>
          </p:cNvPr>
          <p:cNvSpPr/>
          <p:nvPr/>
        </p:nvSpPr>
        <p:spPr>
          <a:xfrm>
            <a:off x="4419600" y="2286000"/>
            <a:ext cx="3352800" cy="226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000294-1220-426B-BC3A-AC5B35CD50F1}"/>
              </a:ext>
            </a:extLst>
          </p:cNvPr>
          <p:cNvSpPr txBox="1"/>
          <p:nvPr/>
        </p:nvSpPr>
        <p:spPr>
          <a:xfrm>
            <a:off x="4673600" y="2514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갈아 끼운다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069F3-9DF9-4A31-B5D0-C783DE4A6CC5}"/>
              </a:ext>
            </a:extLst>
          </p:cNvPr>
          <p:cNvSpPr txBox="1"/>
          <p:nvPr/>
        </p:nvSpPr>
        <p:spPr>
          <a:xfrm>
            <a:off x="4673600" y="2921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2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168</a:t>
            </a:r>
            <a:r>
              <a:rPr lang="ko-KR" altLang="en-US" sz="29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EFD9A-7D5C-4EC6-A4E5-7A8F88B248F2}"/>
              </a:ext>
            </a:extLst>
          </p:cNvPr>
          <p:cNvSpPr txBox="1"/>
          <p:nvPr/>
        </p:nvSpPr>
        <p:spPr>
          <a:xfrm>
            <a:off x="4673600" y="3530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ViveMotionInputProvider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클래스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인터페이스는 이미 있습니다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24E9E-3C48-4246-9E3E-814F509798A2}"/>
              </a:ext>
            </a:extLst>
          </p:cNvPr>
          <p:cNvSpPr txBox="1"/>
          <p:nvPr/>
        </p:nvSpPr>
        <p:spPr>
          <a:xfrm>
            <a:off x="4673600" y="4191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9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ULiDARMotionInputProvider — </a:t>
            </a:r>
            <a:r>
              <a:rPr lang="ko-KR" altLang="en-US" sz="950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예약됨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B9B572F-C462-4953-88F4-189F5B5F521D}"/>
              </a:ext>
            </a:extLst>
          </p:cNvPr>
          <p:cNvSpPr/>
          <p:nvPr/>
        </p:nvSpPr>
        <p:spPr>
          <a:xfrm>
            <a:off x="8331200" y="2286000"/>
            <a:ext cx="3352800" cy="226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C8DD-8C2E-4182-84B7-D3CE96D107CE}"/>
              </a:ext>
            </a:extLst>
          </p:cNvPr>
          <p:cNvSpPr txBox="1"/>
          <p:nvPr/>
        </p:nvSpPr>
        <p:spPr>
          <a:xfrm>
            <a:off x="8585200" y="2514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B913B-7083-42D3-9066-1FE1F0E73D1B}"/>
              </a:ext>
            </a:extLst>
          </p:cNvPr>
          <p:cNvSpPr txBox="1"/>
          <p:nvPr/>
        </p:nvSpPr>
        <p:spPr>
          <a:xfrm>
            <a:off x="8585200" y="2921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2900" b="1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폰 </a:t>
            </a:r>
            <a:r>
              <a:rPr lang="en-US" altLang="ko-KR" sz="2900" b="1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HUD</a:t>
            </a:r>
            <a:endParaRPr lang="ko-KR" altLang="en-US" sz="2900" b="1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F696BF-6145-496E-92C2-D53B5AA2A1F5}"/>
              </a:ext>
            </a:extLst>
          </p:cNvPr>
          <p:cNvSpPr txBox="1"/>
          <p:nvPr/>
        </p:nvSpPr>
        <p:spPr>
          <a:xfrm>
            <a:off x="8585200" y="3530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HMD·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컨트롤러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직접 붙어 있습니다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 투사 시점과 평면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재배치가 필요합니다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D9095E6-C990-49DD-874F-600608C37FC6}"/>
              </a:ext>
            </a:extLst>
          </p:cNvPr>
          <p:cNvSpPr/>
          <p:nvPr/>
        </p:nvSpPr>
        <p:spPr>
          <a:xfrm>
            <a:off x="508000" y="4800600"/>
            <a:ext cx="5461000" cy="13462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E0E98AE5-06A3-4E6C-A89F-5406A3E0BF6C}"/>
              </a:ext>
            </a:extLst>
          </p:cNvPr>
          <p:cNvSpPr/>
          <p:nvPr/>
        </p:nvSpPr>
        <p:spPr>
          <a:xfrm>
            <a:off x="812800" y="5080000"/>
            <a:ext cx="139700" cy="1397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90E785-C329-4EB2-96B9-80580BD30701}"/>
              </a:ext>
            </a:extLst>
          </p:cNvPr>
          <p:cNvSpPr txBox="1"/>
          <p:nvPr/>
        </p:nvSpPr>
        <p:spPr>
          <a:xfrm>
            <a:off x="1117600" y="5003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배트는 </a:t>
            </a:r>
            <a:r>
              <a:rPr lang="en-US" altLang="ko-KR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LiDAR</a:t>
            </a:r>
            <a:r>
              <a:rPr lang="ko-KR" altLang="en-US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못 잡습니다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C5D6DC-72B9-4297-8C87-5BCF699060FC}"/>
              </a:ext>
            </a:extLst>
          </p:cNvPr>
          <p:cNvSpPr txBox="1"/>
          <p:nvPr/>
        </p:nvSpPr>
        <p:spPr>
          <a:xfrm>
            <a:off x="812800" y="54356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 Tracker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배트 소품에 부착합니다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베이스 스테이션만 쓰고 헤드셋은 여전히 안 씁니다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비착용형은 그대로입니다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E04FB6D-5EAB-4242-B8FF-88F6FF774E10}"/>
              </a:ext>
            </a:extLst>
          </p:cNvPr>
          <p:cNvSpPr/>
          <p:nvPr/>
        </p:nvSpPr>
        <p:spPr>
          <a:xfrm>
            <a:off x="6223000" y="4800600"/>
            <a:ext cx="5461000" cy="13462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다이아몬드 24">
            <a:extLst>
              <a:ext uri="{FF2B5EF4-FFF2-40B4-BE49-F238E27FC236}">
                <a16:creationId xmlns:a16="http://schemas.microsoft.com/office/drawing/2014/main" id="{2E9883D9-4A32-4313-96EE-0E3237F30D72}"/>
              </a:ext>
            </a:extLst>
          </p:cNvPr>
          <p:cNvSpPr/>
          <p:nvPr/>
        </p:nvSpPr>
        <p:spPr>
          <a:xfrm>
            <a:off x="6527800" y="50800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889F4B-ED1D-4071-ACA0-E2F9E1476CA0}"/>
              </a:ext>
            </a:extLst>
          </p:cNvPr>
          <p:cNvSpPr txBox="1"/>
          <p:nvPr/>
        </p:nvSpPr>
        <p:spPr>
          <a:xfrm>
            <a:off x="6832600" y="5003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</a:t>
            </a:r>
            <a:r>
              <a:rPr lang="ko-KR" altLang="en-US" sz="16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낭비가 아니라 기준자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E90EBC-7877-4BE6-ADD2-EE85B696284C}"/>
              </a:ext>
            </a:extLst>
          </p:cNvPr>
          <p:cNvSpPr txBox="1"/>
          <p:nvPr/>
        </p:nvSpPr>
        <p:spPr>
          <a:xfrm>
            <a:off x="6527800" y="54356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라이트하우스는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mm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LiDAR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골격은 거칩니다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정밀 센서로 스윙 물리의 정답을 먼저 잡고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LiDAR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그 값에 맞춥니다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76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BD9EA990-D267-4BE2-B157-C14807338D40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97BB8-1EFD-4DF1-96BB-ED80598B8A02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 속도가 아니라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배트 헤드 속도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6EF24DF-AE97-4928-AB2F-E14F4583FF28}"/>
              </a:ext>
            </a:extLst>
          </p:cNvPr>
          <p:cNvSpPr/>
          <p:nvPr/>
        </p:nvSpPr>
        <p:spPr>
          <a:xfrm>
            <a:off x="508000" y="1371600"/>
            <a:ext cx="5461000" cy="3987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BED9B8E9-7130-4BF5-9983-D15E26918A9D}"/>
              </a:ext>
            </a:extLst>
          </p:cNvPr>
          <p:cNvSpPr/>
          <p:nvPr/>
        </p:nvSpPr>
        <p:spPr>
          <a:xfrm>
            <a:off x="812800" y="17272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86F5B-B5B3-4DBE-8BF7-4833B040ABF3}"/>
              </a:ext>
            </a:extLst>
          </p:cNvPr>
          <p:cNvSpPr txBox="1"/>
          <p:nvPr/>
        </p:nvSpPr>
        <p:spPr>
          <a:xfrm>
            <a:off x="1117600" y="1651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0A9B4-4F41-4691-9E65-2DD227EFC5BA}"/>
              </a:ext>
            </a:extLst>
          </p:cNvPr>
          <p:cNvSpPr txBox="1"/>
          <p:nvPr/>
        </p:nvSpPr>
        <p:spPr>
          <a:xfrm>
            <a:off x="812800" y="21082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컨트롤러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속도 ≠ 배트 속도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회전 채찍 효과로 배트 헤드가 손보다 빠릅니다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120411-F0F8-46A9-8BB8-034E0D227003}"/>
              </a:ext>
            </a:extLst>
          </p:cNvPr>
          <p:cNvSpPr/>
          <p:nvPr/>
        </p:nvSpPr>
        <p:spPr>
          <a:xfrm>
            <a:off x="812800" y="3175000"/>
            <a:ext cx="4851400" cy="7366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7CCD8-60A9-420D-993A-C167C52461F0}"/>
              </a:ext>
            </a:extLst>
          </p:cNvPr>
          <p:cNvSpPr txBox="1"/>
          <p:nvPr/>
        </p:nvSpPr>
        <p:spPr>
          <a:xfrm>
            <a:off x="812800" y="3403600"/>
            <a:ext cx="4851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22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v_tip  =  v_hand  +  </a:t>
            </a:r>
            <a:r>
              <a:rPr lang="el-GR" altLang="ko-KR" sz="2200" b="1">
                <a:solidFill>
                  <a:srgbClr val="E8B23A"/>
                </a:solidFill>
                <a:ea typeface="맑은 고딕" panose="020B0503020000020004" pitchFamily="50" charset="-127"/>
              </a:rPr>
              <a:t>ω × </a:t>
            </a:r>
            <a:r>
              <a:rPr lang="en-US" altLang="ko-KR" sz="22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</a:t>
            </a:r>
            <a:endParaRPr lang="ko-KR" altLang="en-US" sz="22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884AB-842F-4B3E-B33C-F83D084F52CD}"/>
              </a:ext>
            </a:extLst>
          </p:cNvPr>
          <p:cNvSpPr txBox="1"/>
          <p:nvPr/>
        </p:nvSpPr>
        <p:spPr>
          <a:xfrm>
            <a:off x="812800" y="41402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MotionController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자식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BatTip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배트 길이만큼 오프셋 → 손 위치 미분에 쿼터니언 델타 각속도를 더합니다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링버퍼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샘플에서 컨택 순간 속도와 피크 속도를 뽑습니다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8A2779-E2CE-46C0-95C2-9DCB8F4D1BFF}"/>
              </a:ext>
            </a:extLst>
          </p:cNvPr>
          <p:cNvSpPr/>
          <p:nvPr/>
        </p:nvSpPr>
        <p:spPr>
          <a:xfrm>
            <a:off x="6223000" y="1371600"/>
            <a:ext cx="5461000" cy="3987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CF5A3071-465F-433D-8D68-522F60B838BD}"/>
              </a:ext>
            </a:extLst>
          </p:cNvPr>
          <p:cNvSpPr/>
          <p:nvPr/>
        </p:nvSpPr>
        <p:spPr>
          <a:xfrm>
            <a:off x="6527800" y="17272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DDB6A-4DDA-4AE7-96EC-520B07833E46}"/>
              </a:ext>
            </a:extLst>
          </p:cNvPr>
          <p:cNvSpPr txBox="1"/>
          <p:nvPr/>
        </p:nvSpPr>
        <p:spPr>
          <a:xfrm>
            <a:off x="6832600" y="1651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컨택 판정 </a:t>
            </a:r>
            <a:r>
              <a:rPr lang="en-US" altLang="ko-KR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49CF553-65A0-48AE-B9B1-0A7342026E6C}"/>
              </a:ext>
            </a:extLst>
          </p:cNvPr>
          <p:cNvSpPr/>
          <p:nvPr/>
        </p:nvSpPr>
        <p:spPr>
          <a:xfrm>
            <a:off x="6527800" y="2108200"/>
            <a:ext cx="4851400" cy="6350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8A980-45BD-449E-987C-D7B37C8FE31C}"/>
              </a:ext>
            </a:extLst>
          </p:cNvPr>
          <p:cNvSpPr txBox="1"/>
          <p:nvPr/>
        </p:nvSpPr>
        <p:spPr>
          <a:xfrm>
            <a:off x="6756400" y="2311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관문 ①  시간 창    </a:t>
            </a:r>
            <a:r>
              <a:rPr lang="en-US" altLang="ko-KR" sz="13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t − </a:t>
            </a:r>
            <a:r>
              <a:rPr lang="ko-KR" altLang="en-US" sz="13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컨택 시각 </a:t>
            </a:r>
            <a:r>
              <a:rPr lang="en-US" altLang="ko-KR" sz="13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≤ 0.32s</a:t>
            </a:r>
            <a:endParaRPr lang="ko-KR" altLang="en-US" sz="13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872A661-7635-4886-A42E-75876F820956}"/>
              </a:ext>
            </a:extLst>
          </p:cNvPr>
          <p:cNvSpPr/>
          <p:nvPr/>
        </p:nvSpPr>
        <p:spPr>
          <a:xfrm>
            <a:off x="6527800" y="2870200"/>
            <a:ext cx="4851400" cy="6350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AD968-50B7-43D5-8BA7-4297406A9EEE}"/>
              </a:ext>
            </a:extLst>
          </p:cNvPr>
          <p:cNvSpPr txBox="1"/>
          <p:nvPr/>
        </p:nvSpPr>
        <p:spPr>
          <a:xfrm>
            <a:off x="6756400" y="3073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관문 ②  동작 게이트    중앙차분 속도 ≥ </a:t>
            </a:r>
            <a:r>
              <a:rPr lang="en-US" altLang="ko-KR" sz="13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1.5 m/s</a:t>
            </a:r>
            <a:endParaRPr lang="ko-KR" altLang="en-US" sz="13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9DF8B4-698F-48F3-AF78-CB97C6985999}"/>
              </a:ext>
            </a:extLst>
          </p:cNvPr>
          <p:cNvSpPr txBox="1"/>
          <p:nvPr/>
        </p:nvSpPr>
        <p:spPr>
          <a:xfrm>
            <a:off x="6527800" y="37338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배트를 가만히 들고 있으면</a:t>
            </a:r>
            <a:r>
              <a:rPr lang="en-US" altLang="ko-KR" sz="145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5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공이 지나가도 컨택되지 않습니다</a:t>
            </a:r>
            <a:r>
              <a:rPr lang="en-US" altLang="ko-KR" sz="145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50" b="1">
              <a:solidFill>
                <a:srgbClr val="5CB18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E0495F-6D7C-4338-AA36-60168CEEEBE7}"/>
              </a:ext>
            </a:extLst>
          </p:cNvPr>
          <p:cNvSpPr txBox="1"/>
          <p:nvPr/>
        </p:nvSpPr>
        <p:spPr>
          <a:xfrm>
            <a:off x="6527800" y="45212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히트박스도 점이 아닙니다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배럴 선분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44cm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공 사이의 최단거리로 판정합니다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92852-A437-4D3A-89B2-24EA75A8FF82}"/>
              </a:ext>
            </a:extLst>
          </p:cNvPr>
          <p:cNvSpPr txBox="1"/>
          <p:nvPr/>
        </p:nvSpPr>
        <p:spPr>
          <a:xfrm>
            <a:off x="508000" y="57658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UE 5.7+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폐기된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 Motion Controller Data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Get Motion Controller State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</a:t>
            </a:r>
          </a:p>
        </p:txBody>
      </p:sp>
    </p:spTree>
    <p:extLst>
      <p:ext uri="{BB962C8B-B14F-4D97-AF65-F5344CB8AC3E}">
        <p14:creationId xmlns:p14="http://schemas.microsoft.com/office/powerpoint/2010/main" val="13164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2817A3F0-9D15-4BB7-B015-F1C28ED88AB9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FF2FD-1E44-4BA0-A56A-4E14E5B6D590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약점은 계산이 찾고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AI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옮깁니다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ED4E22-6BE6-4654-BB28-2E206D840FF3}"/>
              </a:ext>
            </a:extLst>
          </p:cNvPr>
          <p:cNvSpPr/>
          <p:nvPr/>
        </p:nvSpPr>
        <p:spPr>
          <a:xfrm>
            <a:off x="508000" y="1244600"/>
            <a:ext cx="11176000" cy="6604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B8EEF-8F4E-498C-8760-4E9343D91FBA}"/>
              </a:ext>
            </a:extLst>
          </p:cNvPr>
          <p:cNvSpPr txBox="1"/>
          <p:nvPr/>
        </p:nvSpPr>
        <p:spPr>
          <a:xfrm>
            <a:off x="508000" y="14351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20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TotalScore  =  0.4 · </a:t>
            </a:r>
            <a:r>
              <a:rPr lang="ko-KR" altLang="en-US" sz="20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   </a:t>
            </a:r>
            <a:r>
              <a:rPr lang="en-US" altLang="ko-KR" sz="20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  0.35 · </a:t>
            </a:r>
            <a:r>
              <a:rPr lang="ko-KR" altLang="en-US" sz="20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   </a:t>
            </a:r>
            <a:r>
              <a:rPr lang="en-US" altLang="ko-KR" sz="20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  0.25 · </a:t>
            </a:r>
            <a:r>
              <a:rPr lang="ko-KR" altLang="en-US" sz="20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일관성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C6DCCCF-52D4-4192-9F95-0ABE958D94DE}"/>
              </a:ext>
            </a:extLst>
          </p:cNvPr>
          <p:cNvSpPr/>
          <p:nvPr/>
        </p:nvSpPr>
        <p:spPr>
          <a:xfrm>
            <a:off x="508000" y="2108200"/>
            <a:ext cx="3352800" cy="1320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C71F3-E97D-4B63-ABF3-2127CC8C4703}"/>
              </a:ext>
            </a:extLst>
          </p:cNvPr>
          <p:cNvSpPr txBox="1"/>
          <p:nvPr/>
        </p:nvSpPr>
        <p:spPr>
          <a:xfrm>
            <a:off x="762000" y="231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432AD-90B6-4E4F-9EBE-5C5C93039693}"/>
              </a:ext>
            </a:extLst>
          </p:cNvPr>
          <p:cNvSpPr txBox="1"/>
          <p:nvPr/>
        </p:nvSpPr>
        <p:spPr>
          <a:xfrm>
            <a:off x="762000" y="2692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exp(−err² / 2σ²) ×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거리 감쇠
타이밍 오차 </a:t>
            </a:r>
            <a:r>
              <a:rPr lang="en-US" altLang="ko-KR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스위트스팟 이격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2BDD49-BE97-4FCA-AFD4-788B75800E0A}"/>
              </a:ext>
            </a:extLst>
          </p:cNvPr>
          <p:cNvSpPr/>
          <p:nvPr/>
        </p:nvSpPr>
        <p:spPr>
          <a:xfrm>
            <a:off x="4419600" y="2108200"/>
            <a:ext cx="3352800" cy="1320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38E9D-ADCD-4750-BDF1-75558D51940E}"/>
              </a:ext>
            </a:extLst>
          </p:cNvPr>
          <p:cNvSpPr txBox="1"/>
          <p:nvPr/>
        </p:nvSpPr>
        <p:spPr>
          <a:xfrm>
            <a:off x="4673600" y="231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DD1F1F-2BE7-4B56-96D5-F21D8BA4701E}"/>
              </a:ext>
            </a:extLst>
          </p:cNvPr>
          <p:cNvSpPr txBox="1"/>
          <p:nvPr/>
        </p:nvSpPr>
        <p:spPr>
          <a:xfrm>
            <a:off x="4673600" y="2692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 타구 속도 정규화
배트 속도만으로는 주지 않습니다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105165-0742-42F8-8F2D-148306AC291A}"/>
              </a:ext>
            </a:extLst>
          </p:cNvPr>
          <p:cNvSpPr/>
          <p:nvPr/>
        </p:nvSpPr>
        <p:spPr>
          <a:xfrm>
            <a:off x="8331200" y="2108200"/>
            <a:ext cx="3352800" cy="13208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E9A41A-ABB7-4DB9-B30D-5CC3186FA3C7}"/>
              </a:ext>
            </a:extLst>
          </p:cNvPr>
          <p:cNvSpPr txBox="1"/>
          <p:nvPr/>
        </p:nvSpPr>
        <p:spPr>
          <a:xfrm>
            <a:off x="8585200" y="231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일관성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6DDE5-A7F9-4329-BBA5-BC564A0D0324}"/>
              </a:ext>
            </a:extLst>
          </p:cNvPr>
          <p:cNvSpPr txBox="1"/>
          <p:nvPr/>
        </p:nvSpPr>
        <p:spPr>
          <a:xfrm>
            <a:off x="8585200" y="2692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 표준편차
작을수록 고득점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02869-8972-46B3-977B-138FA539A52A}"/>
              </a:ext>
            </a:extLst>
          </p:cNvPr>
          <p:cNvSpPr txBox="1"/>
          <p:nvPr/>
        </p:nvSpPr>
        <p:spPr>
          <a:xfrm>
            <a:off x="508000" y="3581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헛스윙은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상수는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FScoringConfig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분리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미보정 상태면 결과 화면에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미보정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그대로 표시됩니다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4C66C88-4505-440F-80FD-CCF5938802B0}"/>
              </a:ext>
            </a:extLst>
          </p:cNvPr>
          <p:cNvSpPr/>
          <p:nvPr/>
        </p:nvSpPr>
        <p:spPr>
          <a:xfrm>
            <a:off x="508000" y="4038600"/>
            <a:ext cx="2489200" cy="99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70FC71-ADA9-437E-BD45-F683D41FDE63}"/>
              </a:ext>
            </a:extLst>
          </p:cNvPr>
          <p:cNvSpPr txBox="1"/>
          <p:nvPr/>
        </p:nvSpPr>
        <p:spPr>
          <a:xfrm>
            <a:off x="685800" y="42164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 데이터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00E72A-24D8-4FD4-8A71-7A55F537A821}"/>
              </a:ext>
            </a:extLst>
          </p:cNvPr>
          <p:cNvSpPr txBox="1"/>
          <p:nvPr/>
        </p:nvSpPr>
        <p:spPr>
          <a:xfrm>
            <a:off x="685800" y="44958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스윙 </a:t>
            </a:r>
            <a:r>
              <a:rPr lang="en-US" altLang="ko-KR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컨택 </a:t>
            </a:r>
            <a:r>
              <a:rPr lang="en-US" altLang="ko-KR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타이밍 시계열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BED4BAC-D1F1-497B-A8EC-71B7AF320C3C}"/>
              </a:ext>
            </a:extLst>
          </p:cNvPr>
          <p:cNvSpPr/>
          <p:nvPr/>
        </p:nvSpPr>
        <p:spPr>
          <a:xfrm>
            <a:off x="3073400" y="4432300"/>
            <a:ext cx="304800" cy="203200"/>
          </a:xfrm>
          <a:prstGeom prst="rightArrow">
            <a:avLst/>
          </a:prstGeom>
          <a:solidFill>
            <a:srgbClr val="2E7D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1449338-88CA-4FCE-8FD4-10565C240274}"/>
              </a:ext>
            </a:extLst>
          </p:cNvPr>
          <p:cNvSpPr/>
          <p:nvPr/>
        </p:nvSpPr>
        <p:spPr>
          <a:xfrm>
            <a:off x="3403600" y="4038600"/>
            <a:ext cx="2489200" cy="99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6D9FB7-7173-4DBB-8520-E2873C337D7D}"/>
              </a:ext>
            </a:extLst>
          </p:cNvPr>
          <p:cNvSpPr txBox="1"/>
          <p:nvPr/>
        </p:nvSpPr>
        <p:spPr>
          <a:xfrm>
            <a:off x="3581400" y="42164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UWeaknessDetector</a:t>
            </a:r>
            <a:endParaRPr lang="ko-KR" altLang="en-US" sz="12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9CB288-A70F-4738-B876-08CBCA30C3F9}"/>
              </a:ext>
            </a:extLst>
          </p:cNvPr>
          <p:cNvSpPr txBox="1"/>
          <p:nvPr/>
        </p:nvSpPr>
        <p:spPr>
          <a:xfrm>
            <a:off x="3581400" y="44958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결정론적 임계값 비교 → 약점 축 </a:t>
            </a:r>
            <a:r>
              <a:rPr lang="en-US" altLang="ko-KR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5ACB72C2-F5B3-40E6-8073-EC220110FA43}"/>
              </a:ext>
            </a:extLst>
          </p:cNvPr>
          <p:cNvSpPr/>
          <p:nvPr/>
        </p:nvSpPr>
        <p:spPr>
          <a:xfrm>
            <a:off x="5969000" y="4432300"/>
            <a:ext cx="304800" cy="203200"/>
          </a:xfrm>
          <a:prstGeom prst="rightArrow">
            <a:avLst/>
          </a:prstGeom>
          <a:solidFill>
            <a:srgbClr val="2E7D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2A0F61-04E0-4C4D-A6DB-3DB5B1C136ED}"/>
              </a:ext>
            </a:extLst>
          </p:cNvPr>
          <p:cNvSpPr/>
          <p:nvPr/>
        </p:nvSpPr>
        <p:spPr>
          <a:xfrm>
            <a:off x="6299200" y="4038600"/>
            <a:ext cx="2489200" cy="99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C8612-88BC-4657-A989-F0A97EAF8E5F}"/>
              </a:ext>
            </a:extLst>
          </p:cNvPr>
          <p:cNvSpPr txBox="1"/>
          <p:nvPr/>
        </p:nvSpPr>
        <p:spPr>
          <a:xfrm>
            <a:off x="6477000" y="42164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UDrillCatalog</a:t>
            </a:r>
            <a:endParaRPr lang="ko-KR" altLang="en-US" sz="12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E16916-D5BA-4D5D-B405-77C8B0A6CA69}"/>
              </a:ext>
            </a:extLst>
          </p:cNvPr>
          <p:cNvSpPr txBox="1"/>
          <p:nvPr/>
        </p:nvSpPr>
        <p:spPr>
          <a:xfrm>
            <a:off x="6477000" y="44958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 축별 추천 드릴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DCD4001-553F-4AB3-B1BC-8909EC9E5DD2}"/>
              </a:ext>
            </a:extLst>
          </p:cNvPr>
          <p:cNvSpPr/>
          <p:nvPr/>
        </p:nvSpPr>
        <p:spPr>
          <a:xfrm>
            <a:off x="8864600" y="4432300"/>
            <a:ext cx="304800" cy="203200"/>
          </a:xfrm>
          <a:prstGeom prst="rightArrow">
            <a:avLst/>
          </a:prstGeom>
          <a:solidFill>
            <a:srgbClr val="2E7D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31896CD-6F3E-4667-8E1C-0377F8035DED}"/>
              </a:ext>
            </a:extLst>
          </p:cNvPr>
          <p:cNvSpPr/>
          <p:nvPr/>
        </p:nvSpPr>
        <p:spPr>
          <a:xfrm>
            <a:off x="9194800" y="4038600"/>
            <a:ext cx="2489200" cy="990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D3B08D-F954-43C8-888D-B1B17CB967CB}"/>
              </a:ext>
            </a:extLst>
          </p:cNvPr>
          <p:cNvSpPr txBox="1"/>
          <p:nvPr/>
        </p:nvSpPr>
        <p:spPr>
          <a:xfrm>
            <a:off x="9372600" y="42164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생성형 </a:t>
            </a:r>
            <a:r>
              <a:rPr lang="en-US" altLang="ko-KR" sz="12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125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9F5B59-71F0-426F-B396-AC41F151E014}"/>
              </a:ext>
            </a:extLst>
          </p:cNvPr>
          <p:cNvSpPr txBox="1"/>
          <p:nvPr/>
        </p:nvSpPr>
        <p:spPr>
          <a:xfrm>
            <a:off x="9372600" y="44958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숫자를 문장으로만 변환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200EA3-0F0B-4C18-8AB8-AA1A3ED666E2}"/>
              </a:ext>
            </a:extLst>
          </p:cNvPr>
          <p:cNvSpPr txBox="1"/>
          <p:nvPr/>
        </p:nvSpPr>
        <p:spPr>
          <a:xfrm>
            <a:off x="508000" y="5308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숫자를 지어낼 수 없는 구조입니다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API 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키가 없어도 약점 리포트와 추천 드릴은 그대로 나옵니다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987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9B4F72C1-2BE8-499F-82BD-692F1927DBD7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56D36-BAD8-488F-9C50-7E56EBC2658C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실행해 보여드립니다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5656A-5F36-4C74-AB4B-EC01D37EA8B8}"/>
              </a:ext>
            </a:extLst>
          </p:cNvPr>
          <p:cNvSpPr txBox="1"/>
          <p:nvPr/>
        </p:nvSpPr>
        <p:spPr>
          <a:xfrm>
            <a:off x="7874000" y="584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 시연 </a:t>
            </a:r>
            <a:r>
              <a:rPr lang="en-US" altLang="ko-KR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</a:t>
            </a:r>
            <a:r>
              <a:rPr lang="ko-KR" altLang="en-US" sz="1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C4ED8-A684-481E-B043-EAE60A962C4C}"/>
              </a:ext>
            </a:extLst>
          </p:cNvPr>
          <p:cNvSpPr txBox="1"/>
          <p:nvPr/>
        </p:nvSpPr>
        <p:spPr>
          <a:xfrm>
            <a:off x="508000" y="1270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순서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1FB272-17F4-446C-88F8-B98AC01D61C0}"/>
              </a:ext>
            </a:extLst>
          </p:cNvPr>
          <p:cNvSpPr/>
          <p:nvPr/>
        </p:nvSpPr>
        <p:spPr>
          <a:xfrm>
            <a:off x="508000" y="1676400"/>
            <a:ext cx="5969000" cy="66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155AD-7E36-4D9C-A71D-3717D2CC2A5A}"/>
              </a:ext>
            </a:extLst>
          </p:cNvPr>
          <p:cNvSpPr txBox="1"/>
          <p:nvPr/>
        </p:nvSpPr>
        <p:spPr>
          <a:xfrm>
            <a:off x="762000" y="18796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0:00</a:t>
            </a:r>
            <a:endParaRPr lang="ko-KR" altLang="en-US" sz="13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9A8A3-8916-4440-BB3C-43FBC82BA208}"/>
              </a:ext>
            </a:extLst>
          </p:cNvPr>
          <p:cNvSpPr txBox="1"/>
          <p:nvPr/>
        </p:nvSpPr>
        <p:spPr>
          <a:xfrm>
            <a:off x="1549400" y="17780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 화면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FF311-034F-45E4-A868-1F523B429FC9}"/>
              </a:ext>
            </a:extLst>
          </p:cNvPr>
          <p:cNvSpPr txBox="1"/>
          <p:nvPr/>
        </p:nvSpPr>
        <p:spPr>
          <a:xfrm>
            <a:off x="1549400" y="20320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야구 흐름 순서로 배열된 모드 목록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2792DB9-FCF7-4684-A858-634FBA701D97}"/>
              </a:ext>
            </a:extLst>
          </p:cNvPr>
          <p:cNvSpPr/>
          <p:nvPr/>
        </p:nvSpPr>
        <p:spPr>
          <a:xfrm>
            <a:off x="508000" y="2413000"/>
            <a:ext cx="5969000" cy="66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67950-D8E4-43E1-BCE0-CF3763AED307}"/>
              </a:ext>
            </a:extLst>
          </p:cNvPr>
          <p:cNvSpPr txBox="1"/>
          <p:nvPr/>
        </p:nvSpPr>
        <p:spPr>
          <a:xfrm>
            <a:off x="762000" y="26162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0:13</a:t>
            </a:r>
            <a:endParaRPr lang="ko-KR" altLang="en-US" sz="13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4F24C-2106-4110-A6E4-FD677B5C1A37}"/>
              </a:ext>
            </a:extLst>
          </p:cNvPr>
          <p:cNvSpPr txBox="1"/>
          <p:nvPr/>
        </p:nvSpPr>
        <p:spPr>
          <a:xfrm>
            <a:off x="1549400" y="2514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B29C8C-87A8-4C0A-B4C2-BCE263F0F02B}"/>
              </a:ext>
            </a:extLst>
          </p:cNvPr>
          <p:cNvSpPr txBox="1"/>
          <p:nvPr/>
        </p:nvSpPr>
        <p:spPr>
          <a:xfrm>
            <a:off x="1549400" y="2768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구종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코스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볼카운트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실제로 비행하는 공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B9282B2-7166-4A1C-877C-BD9810FB4197}"/>
              </a:ext>
            </a:extLst>
          </p:cNvPr>
          <p:cNvSpPr/>
          <p:nvPr/>
        </p:nvSpPr>
        <p:spPr>
          <a:xfrm>
            <a:off x="508000" y="3149600"/>
            <a:ext cx="5969000" cy="66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054AD-07D2-40BE-8602-A6734522DF80}"/>
              </a:ext>
            </a:extLst>
          </p:cNvPr>
          <p:cNvSpPr txBox="1"/>
          <p:nvPr/>
        </p:nvSpPr>
        <p:spPr>
          <a:xfrm>
            <a:off x="762000" y="33528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0:45</a:t>
            </a:r>
            <a:endParaRPr lang="ko-KR" altLang="en-US" sz="13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B32CD7-3BC2-4058-8ED7-C425C01273A7}"/>
              </a:ext>
            </a:extLst>
          </p:cNvPr>
          <p:cNvSpPr txBox="1"/>
          <p:nvPr/>
        </p:nvSpPr>
        <p:spPr>
          <a:xfrm>
            <a:off x="1549400" y="3251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457F2-8761-43DC-8F99-0CAF26BAA017}"/>
              </a:ext>
            </a:extLst>
          </p:cNvPr>
          <p:cNvSpPr txBox="1"/>
          <p:nvPr/>
        </p:nvSpPr>
        <p:spPr>
          <a:xfrm>
            <a:off x="1549400" y="3505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 미터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비거리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 리포트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6E68635-DD4E-4ED0-9997-CABA53D32DE4}"/>
              </a:ext>
            </a:extLst>
          </p:cNvPr>
          <p:cNvSpPr/>
          <p:nvPr/>
        </p:nvSpPr>
        <p:spPr>
          <a:xfrm>
            <a:off x="508000" y="3886200"/>
            <a:ext cx="5969000" cy="66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78976-C336-4679-A1EC-D68A63C260D3}"/>
              </a:ext>
            </a:extLst>
          </p:cNvPr>
          <p:cNvSpPr txBox="1"/>
          <p:nvPr/>
        </p:nvSpPr>
        <p:spPr>
          <a:xfrm>
            <a:off x="762000" y="40894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1:03</a:t>
            </a:r>
            <a:endParaRPr lang="ko-KR" altLang="en-US" sz="13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FD8382-9A20-4E65-8401-945BC131D151}"/>
              </a:ext>
            </a:extLst>
          </p:cNvPr>
          <p:cNvSpPr txBox="1"/>
          <p:nvPr/>
        </p:nvSpPr>
        <p:spPr>
          <a:xfrm>
            <a:off x="1549400" y="39878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E6FD1F-56F9-48A2-AD94-8041826E7CEE}"/>
              </a:ext>
            </a:extLst>
          </p:cNvPr>
          <p:cNvSpPr txBox="1"/>
          <p:nvPr/>
        </p:nvSpPr>
        <p:spPr>
          <a:xfrm>
            <a:off x="1549400" y="42418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포구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 →  송구 지표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DC232BE-90F5-4302-9D92-DF1E2A7880BC}"/>
              </a:ext>
            </a:extLst>
          </p:cNvPr>
          <p:cNvSpPr/>
          <p:nvPr/>
        </p:nvSpPr>
        <p:spPr>
          <a:xfrm>
            <a:off x="508000" y="4622800"/>
            <a:ext cx="5969000" cy="66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11523-D046-4CC3-8E62-83D2E75F3237}"/>
              </a:ext>
            </a:extLst>
          </p:cNvPr>
          <p:cNvSpPr txBox="1"/>
          <p:nvPr/>
        </p:nvSpPr>
        <p:spPr>
          <a:xfrm>
            <a:off x="762000" y="48260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1:52</a:t>
            </a:r>
            <a:endParaRPr lang="ko-KR" altLang="en-US" sz="13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02945-EFB6-4200-B658-DA1330386ABA}"/>
              </a:ext>
            </a:extLst>
          </p:cNvPr>
          <p:cNvSpPr txBox="1"/>
          <p:nvPr/>
        </p:nvSpPr>
        <p:spPr>
          <a:xfrm>
            <a:off x="1549400" y="4724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코칭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9310CD-2622-4D4E-B4E5-23AFDD2E964C}"/>
              </a:ext>
            </a:extLst>
          </p:cNvPr>
          <p:cNvSpPr txBox="1"/>
          <p:nvPr/>
        </p:nvSpPr>
        <p:spPr>
          <a:xfrm>
            <a:off x="1549400" y="4978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 약점 추세 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 운동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FCD667-F764-44C4-8258-EF31C4CA8BE4}"/>
              </a:ext>
            </a:extLst>
          </p:cNvPr>
          <p:cNvSpPr txBox="1"/>
          <p:nvPr/>
        </p:nvSpPr>
        <p:spPr>
          <a:xfrm>
            <a:off x="6858000" y="1270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보실 포인트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A76D37C-4DBC-43C2-8645-D27DBE5AB10D}"/>
              </a:ext>
            </a:extLst>
          </p:cNvPr>
          <p:cNvSpPr/>
          <p:nvPr/>
        </p:nvSpPr>
        <p:spPr>
          <a:xfrm>
            <a:off x="6858000" y="1676400"/>
            <a:ext cx="4826000" cy="11430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다이아몬드 27">
            <a:extLst>
              <a:ext uri="{FF2B5EF4-FFF2-40B4-BE49-F238E27FC236}">
                <a16:creationId xmlns:a16="http://schemas.microsoft.com/office/drawing/2014/main" id="{E1C42653-CE41-4495-B0F6-B3FDCB7DD6B3}"/>
              </a:ext>
            </a:extLst>
          </p:cNvPr>
          <p:cNvSpPr/>
          <p:nvPr/>
        </p:nvSpPr>
        <p:spPr>
          <a:xfrm>
            <a:off x="7137400" y="1905000"/>
            <a:ext cx="127000" cy="1270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1CBD15-588B-4121-B2D2-61E3586B1EBC}"/>
              </a:ext>
            </a:extLst>
          </p:cNvPr>
          <p:cNvSpPr txBox="1"/>
          <p:nvPr/>
        </p:nvSpPr>
        <p:spPr>
          <a:xfrm>
            <a:off x="7416800" y="1828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헛스윙은 </a:t>
            </a:r>
            <a:r>
              <a:rPr lang="en-US" altLang="ko-KR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점입니다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23B429-C22B-45E1-A71E-925B63F33535}"/>
              </a:ext>
            </a:extLst>
          </p:cNvPr>
          <p:cNvSpPr txBox="1"/>
          <p:nvPr/>
        </p:nvSpPr>
        <p:spPr>
          <a:xfrm>
            <a:off x="7137400" y="2209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배트만 빨라도 점수가 붙지 않습니다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컨택해야 점수가 생깁니다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5B1B635-902F-4BFA-97DA-938556E78EE2}"/>
              </a:ext>
            </a:extLst>
          </p:cNvPr>
          <p:cNvSpPr/>
          <p:nvPr/>
        </p:nvSpPr>
        <p:spPr>
          <a:xfrm>
            <a:off x="6858000" y="2946400"/>
            <a:ext cx="4826000" cy="11430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902ADAE-9A68-4E7B-B041-EC192CFCA73A}"/>
              </a:ext>
            </a:extLst>
          </p:cNvPr>
          <p:cNvSpPr/>
          <p:nvPr/>
        </p:nvSpPr>
        <p:spPr>
          <a:xfrm>
            <a:off x="7137400" y="3175000"/>
            <a:ext cx="127000" cy="1270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41CA84-4DEF-4CAC-80FA-2655FFAF0035}"/>
              </a:ext>
            </a:extLst>
          </p:cNvPr>
          <p:cNvSpPr txBox="1"/>
          <p:nvPr/>
        </p:nvSpPr>
        <p:spPr>
          <a:xfrm>
            <a:off x="7416800" y="3098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파울은 랜덤이 아닙니다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71BE68-909D-4F21-9B23-928B77F39450}"/>
              </a:ext>
            </a:extLst>
          </p:cNvPr>
          <p:cNvSpPr txBox="1"/>
          <p:nvPr/>
        </p:nvSpPr>
        <p:spPr>
          <a:xfrm>
            <a:off x="7137400" y="3479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타이밍 오차에서 계산된 결과입니다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밀리면 타구 방향이 바뀝니다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825D522-017D-412A-9C1C-B84911792187}"/>
              </a:ext>
            </a:extLst>
          </p:cNvPr>
          <p:cNvSpPr/>
          <p:nvPr/>
        </p:nvSpPr>
        <p:spPr>
          <a:xfrm>
            <a:off x="6858000" y="4216400"/>
            <a:ext cx="4826000" cy="11430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다이아몬드 35">
            <a:extLst>
              <a:ext uri="{FF2B5EF4-FFF2-40B4-BE49-F238E27FC236}">
                <a16:creationId xmlns:a16="http://schemas.microsoft.com/office/drawing/2014/main" id="{B7716390-C9D2-42C9-847F-03C613EE6351}"/>
              </a:ext>
            </a:extLst>
          </p:cNvPr>
          <p:cNvSpPr/>
          <p:nvPr/>
        </p:nvSpPr>
        <p:spPr>
          <a:xfrm>
            <a:off x="7137400" y="4445000"/>
            <a:ext cx="127000" cy="1270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AF1E2-5835-4197-A358-CDF97C8F5339}"/>
              </a:ext>
            </a:extLst>
          </p:cNvPr>
          <p:cNvSpPr txBox="1"/>
          <p:nvPr/>
        </p:nvSpPr>
        <p:spPr>
          <a:xfrm>
            <a:off x="7416800" y="4368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3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없어도 약점은 나옵니다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08C4EB-85CF-4237-8622-6670E31A5516}"/>
              </a:ext>
            </a:extLst>
          </p:cNvPr>
          <p:cNvSpPr txBox="1"/>
          <p:nvPr/>
        </p:nvSpPr>
        <p:spPr>
          <a:xfrm>
            <a:off x="7137400" y="4749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리포트와 드릴은 이미 화면에 있고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AI</a:t>
            </a:r>
            <a:r>
              <a:rPr lang="ko-KR" altLang="en-US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문장만 얹습니다</a:t>
            </a:r>
            <a:r>
              <a:rPr lang="en-US" altLang="ko-KR" sz="11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99989-0B81-4CAC-8D97-F9377E8D67FB}"/>
              </a:ext>
            </a:extLst>
          </p:cNvPr>
          <p:cNvSpPr txBox="1"/>
          <p:nvPr/>
        </p:nvSpPr>
        <p:spPr>
          <a:xfrm>
            <a:off x="508000" y="5664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에디터에서 실행하는 중이라 프레임이 튈 수 있습니다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패키징 빌드는 더 가볍습니다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40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7DA76531-C67F-432B-ACD9-13C945122E49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EC548-9D63-4C1D-AD16-D6762FC085A0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것은 연동입니다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9FF974D1-270D-4100-A2F2-DE7EB02CE9D0}"/>
              </a:ext>
            </a:extLst>
          </p:cNvPr>
          <p:cNvSpPr/>
          <p:nvPr/>
        </p:nvSpPr>
        <p:spPr>
          <a:xfrm>
            <a:off x="508000" y="1422400"/>
            <a:ext cx="139700" cy="1397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CF2EF-CAAF-4CCB-BD34-F9932F971092}"/>
              </a:ext>
            </a:extLst>
          </p:cNvPr>
          <p:cNvSpPr txBox="1"/>
          <p:nvPr/>
        </p:nvSpPr>
        <p:spPr>
          <a:xfrm>
            <a:off x="812800" y="1320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3B45279C-5D4F-45CC-859A-778F89B7F932}"/>
              </a:ext>
            </a:extLst>
          </p:cNvPr>
          <p:cNvSpPr/>
          <p:nvPr/>
        </p:nvSpPr>
        <p:spPr>
          <a:xfrm>
            <a:off x="6223000" y="14224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D4D13-C4B1-4E7A-AAC0-331AB2E44C24}"/>
              </a:ext>
            </a:extLst>
          </p:cNvPr>
          <p:cNvSpPr txBox="1"/>
          <p:nvPr/>
        </p:nvSpPr>
        <p:spPr>
          <a:xfrm>
            <a:off x="6527800" y="1320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것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9CE962-F99B-46A0-8D85-26DB010AB84E}"/>
              </a:ext>
            </a:extLst>
          </p:cNvPr>
          <p:cNvSpPr/>
          <p:nvPr/>
        </p:nvSpPr>
        <p:spPr>
          <a:xfrm>
            <a:off x="508000" y="1828800"/>
            <a:ext cx="5461000" cy="914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C3CA5-726C-4AED-8FB8-7D1F606A2185}"/>
              </a:ext>
            </a:extLst>
          </p:cNvPr>
          <p:cNvSpPr txBox="1"/>
          <p:nvPr/>
        </p:nvSpPr>
        <p:spPr>
          <a:xfrm>
            <a:off x="812800" y="20066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Phase 0~1 —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CD8DA-89D0-4ABE-BD66-ACA59040568A}"/>
              </a:ext>
            </a:extLst>
          </p:cNvPr>
          <p:cNvSpPr txBox="1"/>
          <p:nvPr/>
        </p:nvSpPr>
        <p:spPr>
          <a:xfrm>
            <a:off x="812800" y="23368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계층 분리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스윙 분석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 채점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타구 모델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3E5526-3CE3-4105-93C1-2F509E9734A5}"/>
              </a:ext>
            </a:extLst>
          </p:cNvPr>
          <p:cNvSpPr/>
          <p:nvPr/>
        </p:nvSpPr>
        <p:spPr>
          <a:xfrm>
            <a:off x="508000" y="2895600"/>
            <a:ext cx="5461000" cy="914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D7B83-4584-4B62-9D57-887E13435A06}"/>
              </a:ext>
            </a:extLst>
          </p:cNvPr>
          <p:cNvSpPr txBox="1"/>
          <p:nvPr/>
        </p:nvSpPr>
        <p:spPr>
          <a:xfrm>
            <a:off x="812800" y="30734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AB0727-143A-4A0A-AEB1-CE7A3DD481DA}"/>
              </a:ext>
            </a:extLst>
          </p:cNvPr>
          <p:cNvSpPr txBox="1"/>
          <p:nvPr/>
        </p:nvSpPr>
        <p:spPr>
          <a:xfrm>
            <a:off x="812800" y="34036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포구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송구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백업 판단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6F2CE81-67C7-4A22-A9AD-81B89620570C}"/>
              </a:ext>
            </a:extLst>
          </p:cNvPr>
          <p:cNvSpPr/>
          <p:nvPr/>
        </p:nvSpPr>
        <p:spPr>
          <a:xfrm>
            <a:off x="508000" y="3962400"/>
            <a:ext cx="5461000" cy="914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DF22D-ED56-43B5-8C36-DFA719380DA7}"/>
              </a:ext>
            </a:extLst>
          </p:cNvPr>
          <p:cNvSpPr txBox="1"/>
          <p:nvPr/>
        </p:nvSpPr>
        <p:spPr>
          <a:xfrm>
            <a:off x="812800" y="41402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Phase 5 — AI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BB8B5-517E-44EF-84CB-CEA082AF1CFD}"/>
              </a:ext>
            </a:extLst>
          </p:cNvPr>
          <p:cNvSpPr txBox="1"/>
          <p:nvPr/>
        </p:nvSpPr>
        <p:spPr>
          <a:xfrm>
            <a:off x="812800" y="44704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 판별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드릴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생성형 코칭 실배선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AE27A50-23F5-4E18-9E69-5A4C0F502FA5}"/>
              </a:ext>
            </a:extLst>
          </p:cNvPr>
          <p:cNvSpPr/>
          <p:nvPr/>
        </p:nvSpPr>
        <p:spPr>
          <a:xfrm>
            <a:off x="6223000" y="1828800"/>
            <a:ext cx="5461000" cy="9144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5DEA92-B78D-44E3-81C1-74FD116324B2}"/>
              </a:ext>
            </a:extLst>
          </p:cNvPr>
          <p:cNvSpPr txBox="1"/>
          <p:nvPr/>
        </p:nvSpPr>
        <p:spPr>
          <a:xfrm>
            <a:off x="6527800" y="20066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Phase 2 —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캘리브레이션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B9D9E-FC52-4F4C-8E5C-0201880721B3}"/>
              </a:ext>
            </a:extLst>
          </p:cNvPr>
          <p:cNvSpPr txBox="1"/>
          <p:nvPr/>
        </p:nvSpPr>
        <p:spPr>
          <a:xfrm>
            <a:off x="6527800" y="23368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실기로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σt · v_target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기준 상수 보정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2A63884-6F43-445B-B3EF-0BE72B9B2A45}"/>
              </a:ext>
            </a:extLst>
          </p:cNvPr>
          <p:cNvSpPr/>
          <p:nvPr/>
        </p:nvSpPr>
        <p:spPr>
          <a:xfrm>
            <a:off x="6223000" y="2895600"/>
            <a:ext cx="5461000" cy="9144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38ED95-DD2D-4101-AFF1-631AD2385E4A}"/>
              </a:ext>
            </a:extLst>
          </p:cNvPr>
          <p:cNvSpPr txBox="1"/>
          <p:nvPr/>
        </p:nvSpPr>
        <p:spPr>
          <a:xfrm>
            <a:off x="6527800" y="30734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Phase 4 — LiDAR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EB297-C3C1-4BCA-8FC2-041AB351203A}"/>
              </a:ext>
            </a:extLst>
          </p:cNvPr>
          <p:cNvSpPr txBox="1"/>
          <p:nvPr/>
        </p:nvSpPr>
        <p:spPr>
          <a:xfrm>
            <a:off x="6527800" y="34036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모드가 여기서 일괄 해금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F765BD2-CFD5-4A51-8BBB-C0037BF53321}"/>
              </a:ext>
            </a:extLst>
          </p:cNvPr>
          <p:cNvSpPr/>
          <p:nvPr/>
        </p:nvSpPr>
        <p:spPr>
          <a:xfrm>
            <a:off x="6223000" y="3962400"/>
            <a:ext cx="5461000" cy="9144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8117CF-0B7D-4771-9053-6825AE1BF13B}"/>
              </a:ext>
            </a:extLst>
          </p:cNvPr>
          <p:cNvSpPr txBox="1"/>
          <p:nvPr/>
        </p:nvSpPr>
        <p:spPr>
          <a:xfrm>
            <a:off x="6527800" y="41402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Phase 6 —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멀티 </a:t>
            </a:r>
            <a:r>
              <a:rPr lang="en-US" altLang="ko-KR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5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랭킹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0A343-A2D1-4B70-8401-9BA9EE6BA63B}"/>
              </a:ext>
            </a:extLst>
          </p:cNvPr>
          <p:cNvSpPr txBox="1"/>
          <p:nvPr/>
        </p:nvSpPr>
        <p:spPr>
          <a:xfrm>
            <a:off x="6527800" y="44704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1~10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동시 플레이 </a:t>
            </a:r>
            <a:r>
              <a:rPr lang="en-US" altLang="ko-KR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커리큘럼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819473B-8987-4903-B1FF-63D3909C070A}"/>
              </a:ext>
            </a:extLst>
          </p:cNvPr>
          <p:cNvSpPr/>
          <p:nvPr/>
        </p:nvSpPr>
        <p:spPr>
          <a:xfrm>
            <a:off x="508000" y="5181600"/>
            <a:ext cx="11176000" cy="10922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5A136553-9BC8-4206-B72D-8320DBB805E7}"/>
              </a:ext>
            </a:extLst>
          </p:cNvPr>
          <p:cNvSpPr/>
          <p:nvPr/>
        </p:nvSpPr>
        <p:spPr>
          <a:xfrm>
            <a:off x="812800" y="54610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E07FCF-5017-4097-879F-6FFF384755ED}"/>
              </a:ext>
            </a:extLst>
          </p:cNvPr>
          <p:cNvSpPr txBox="1"/>
          <p:nvPr/>
        </p:nvSpPr>
        <p:spPr>
          <a:xfrm>
            <a:off x="1117600" y="53848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</a:t>
            </a:r>
            <a:r>
              <a:rPr lang="en-US" altLang="ko-KR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모드는 만들다 만 것이 아닙니다</a:t>
            </a:r>
            <a:r>
              <a:rPr lang="en-US" altLang="ko-KR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UMotionInputProvider </a:t>
            </a:r>
            <a:r>
              <a:rPr lang="ko-KR" altLang="en-US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추상화와 </a:t>
            </a:r>
            <a:r>
              <a:rPr lang="en-US" altLang="ko-KR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Mock </a:t>
            </a:r>
            <a:r>
              <a:rPr lang="ko-KR" altLang="en-US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구현까지 끝내둬서</a:t>
            </a:r>
            <a:r>
              <a:rPr lang="en-US" altLang="ko-KR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뉴작 </a:t>
            </a:r>
            <a:r>
              <a:rPr lang="en-US" altLang="ko-KR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LiDAR SDK</a:t>
            </a:r>
            <a:r>
              <a:rPr lang="ko-KR" altLang="en-US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물리는 순간 열리도록 해뒀습니다</a:t>
            </a:r>
            <a:r>
              <a:rPr lang="en-US" altLang="ko-KR" sz="15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673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3C38F1EC-B4EA-4D2D-A146-31924DAC57C0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7F2A8-3E2B-4408-B3CE-269A6CCC6B27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학교로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전시관으로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38E688-5225-4DFD-AF63-B7D5775EE0A0}"/>
              </a:ext>
            </a:extLst>
          </p:cNvPr>
          <p:cNvSpPr/>
          <p:nvPr/>
        </p:nvSpPr>
        <p:spPr>
          <a:xfrm>
            <a:off x="508000" y="1346200"/>
            <a:ext cx="5461000" cy="28956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4C770240-2C8A-4765-B90E-BB12DA66D8E7}"/>
              </a:ext>
            </a:extLst>
          </p:cNvPr>
          <p:cNvSpPr/>
          <p:nvPr/>
        </p:nvSpPr>
        <p:spPr>
          <a:xfrm>
            <a:off x="812800" y="1701800"/>
            <a:ext cx="139700" cy="139700"/>
          </a:xfrm>
          <a:prstGeom prst="diamond">
            <a:avLst/>
          </a:prstGeom>
          <a:solidFill>
            <a:srgbClr val="5C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2BA41-65D6-47BA-A6A0-8C9724732288}"/>
              </a:ext>
            </a:extLst>
          </p:cNvPr>
          <p:cNvSpPr txBox="1"/>
          <p:nvPr/>
        </p:nvSpPr>
        <p:spPr>
          <a:xfrm>
            <a:off x="1117600" y="1625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b="1">
                <a:solidFill>
                  <a:srgbClr val="5CB1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27A8C-D9D3-4F63-8C43-76121393ADC8}"/>
              </a:ext>
            </a:extLst>
          </p:cNvPr>
          <p:cNvSpPr txBox="1"/>
          <p:nvPr/>
        </p:nvSpPr>
        <p:spPr>
          <a:xfrm>
            <a:off x="812800" y="21844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교육과정 체육 요소에 그대로 매핑됩니다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·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움직임 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 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포구 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송구
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반응과 협응 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유형별 체공시간 대응
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백업 위치 판단이 인지 영역까지 커버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5EB33A-B9DE-47F3-8CF6-B493D76ED7BA}"/>
              </a:ext>
            </a:extLst>
          </p:cNvPr>
          <p:cNvSpPr/>
          <p:nvPr/>
        </p:nvSpPr>
        <p:spPr>
          <a:xfrm>
            <a:off x="6223000" y="1346200"/>
            <a:ext cx="5461000" cy="2895600"/>
          </a:xfrm>
          <a:prstGeom prst="roundRect">
            <a:avLst>
              <a:gd name="adj" fmla="val 6000"/>
            </a:avLst>
          </a:prstGeom>
          <a:solidFill>
            <a:srgbClr val="152A2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61E7A034-4522-43F6-B21D-CEEEB15D55DA}"/>
              </a:ext>
            </a:extLst>
          </p:cNvPr>
          <p:cNvSpPr/>
          <p:nvPr/>
        </p:nvSpPr>
        <p:spPr>
          <a:xfrm>
            <a:off x="6527800" y="17018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5E34F-3FBD-4415-9EAF-2D9B5A7DBF70}"/>
              </a:ext>
            </a:extLst>
          </p:cNvPr>
          <p:cNvSpPr txBox="1"/>
          <p:nvPr/>
        </p:nvSpPr>
        <p:spPr>
          <a:xfrm>
            <a:off x="6832600" y="1625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상용화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5314B-D21E-449A-96F6-63A68C4702A7}"/>
              </a:ext>
            </a:extLst>
          </p:cNvPr>
          <p:cNvSpPr txBox="1"/>
          <p:nvPr/>
        </p:nvSpPr>
        <p:spPr>
          <a:xfrm>
            <a:off x="6527800" y="2184400"/>
            <a:ext cx="485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SporTrack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전시관 탑재 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 존재하는 상용화 경로 위에 얹습니다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계층을 갈아 끼우면 배트가 라켓이 됩니다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종목으로 확장 가능한 구조입니다</a:t>
            </a:r>
            <a:r>
              <a:rPr lang="en-US" altLang="ko-KR" sz="135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07220-F325-4041-BB78-A6C9FA26152F}"/>
              </a:ext>
            </a:extLst>
          </p:cNvPr>
          <p:cNvSpPr txBox="1"/>
          <p:nvPr/>
        </p:nvSpPr>
        <p:spPr>
          <a:xfrm>
            <a:off x="508000" y="4851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3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헤드셋 없이</a:t>
            </a:r>
            <a:r>
              <a:rPr lang="en-US" altLang="ko-KR" sz="3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측정되는 야구</a:t>
            </a:r>
            <a:r>
              <a:rPr lang="en-US" altLang="ko-KR" sz="34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4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1029A6-46F7-4270-A804-10FB0716D3F1}"/>
              </a:ext>
            </a:extLst>
          </p:cNvPr>
          <p:cNvSpPr txBox="1"/>
          <p:nvPr/>
        </p:nvSpPr>
        <p:spPr>
          <a:xfrm>
            <a:off x="508000" y="5740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5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15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 ·   </a:t>
            </a:r>
            <a:r>
              <a:rPr lang="ko-KR" altLang="en-US" sz="15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lang="en-US" altLang="ko-KR" sz="15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MotionBase</a:t>
            </a:r>
            <a:endParaRPr lang="ko-KR" altLang="en-US" sz="15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624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A880E204-BC7B-4CC0-AB58-276DE5DFD6E4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40EFF-72D5-466D-8379-43193B10C118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백업 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불가 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C230EFB-35E1-4336-AADA-6782C3E184B4}"/>
              </a:ext>
            </a:extLst>
          </p:cNvPr>
          <p:cNvSpPr/>
          <p:nvPr/>
        </p:nvSpPr>
        <p:spPr>
          <a:xfrm>
            <a:off x="508000" y="1473200"/>
            <a:ext cx="3556000" cy="3175000"/>
          </a:xfrm>
          <a:prstGeom prst="roundRect">
            <a:avLst/>
          </a:prstGeom>
          <a:solidFill>
            <a:srgbClr val="070C0F"/>
          </a:solidFill>
          <a:ln w="15875">
            <a:solidFill>
              <a:srgbClr val="2E7D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4281C-EFEB-4987-B91B-16477B819B48}"/>
              </a:ext>
            </a:extLst>
          </p:cNvPr>
          <p:cNvSpPr txBox="1"/>
          <p:nvPr/>
        </p:nvSpPr>
        <p:spPr>
          <a:xfrm>
            <a:off x="508000" y="2895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스크린샷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84034-F6B5-46E1-BD62-150051E32773}"/>
              </a:ext>
            </a:extLst>
          </p:cNvPr>
          <p:cNvSpPr txBox="1"/>
          <p:nvPr/>
        </p:nvSpPr>
        <p:spPr>
          <a:xfrm>
            <a:off x="508000" y="4775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 결과 </a:t>
            </a:r>
            <a:r>
              <a:rPr lang="en-US" altLang="ko-KR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3</a:t>
            </a: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 미터 </a:t>
            </a:r>
            <a:r>
              <a:rPr lang="en-US" altLang="ko-KR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비거리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B289778-0D20-4FAC-B3BE-823B9D457AA7}"/>
              </a:ext>
            </a:extLst>
          </p:cNvPr>
          <p:cNvSpPr/>
          <p:nvPr/>
        </p:nvSpPr>
        <p:spPr>
          <a:xfrm>
            <a:off x="4318000" y="1473200"/>
            <a:ext cx="3556000" cy="3175000"/>
          </a:xfrm>
          <a:prstGeom prst="roundRect">
            <a:avLst/>
          </a:prstGeom>
          <a:solidFill>
            <a:srgbClr val="070C0F"/>
          </a:solidFill>
          <a:ln w="15875">
            <a:solidFill>
              <a:srgbClr val="2E7D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FB505-51CB-4843-AC88-9BC107E825C5}"/>
              </a:ext>
            </a:extLst>
          </p:cNvPr>
          <p:cNvSpPr txBox="1"/>
          <p:nvPr/>
        </p:nvSpPr>
        <p:spPr>
          <a:xfrm>
            <a:off x="4318000" y="2895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스크린샷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E6263-9A2C-4AF2-A34A-3C3C9B4BA08E}"/>
              </a:ext>
            </a:extLst>
          </p:cNvPr>
          <p:cNvSpPr txBox="1"/>
          <p:nvPr/>
        </p:nvSpPr>
        <p:spPr>
          <a:xfrm>
            <a:off x="4318000" y="4775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수비 송구 </a:t>
            </a:r>
            <a:r>
              <a:rPr lang="en-US" altLang="ko-KR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</a:t>
            </a:r>
            <a:r>
              <a:rPr lang="en-US" altLang="ko-KR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3117258-E1BA-41FC-9900-2B7183044046}"/>
              </a:ext>
            </a:extLst>
          </p:cNvPr>
          <p:cNvSpPr/>
          <p:nvPr/>
        </p:nvSpPr>
        <p:spPr>
          <a:xfrm>
            <a:off x="8128000" y="1473200"/>
            <a:ext cx="3556000" cy="3175000"/>
          </a:xfrm>
          <a:prstGeom prst="roundRect">
            <a:avLst/>
          </a:prstGeom>
          <a:solidFill>
            <a:srgbClr val="070C0F"/>
          </a:solidFill>
          <a:ln w="15875">
            <a:solidFill>
              <a:srgbClr val="2E7D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792FD-5B01-4FCC-85BC-B693DC22A626}"/>
              </a:ext>
            </a:extLst>
          </p:cNvPr>
          <p:cNvSpPr txBox="1"/>
          <p:nvPr/>
        </p:nvSpPr>
        <p:spPr>
          <a:xfrm>
            <a:off x="8128000" y="2895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스크린샷 </a:t>
            </a:r>
            <a:r>
              <a:rPr lang="en-US" altLang="ko-KR" sz="14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C00056-9AC7-4615-86B5-1877294350C5}"/>
              </a:ext>
            </a:extLst>
          </p:cNvPr>
          <p:cNvSpPr txBox="1"/>
          <p:nvPr/>
        </p:nvSpPr>
        <p:spPr>
          <a:xfrm>
            <a:off x="8128000" y="4775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백업 판단 </a:t>
            </a:r>
            <a:r>
              <a:rPr lang="en-US" altLang="ko-KR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25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오답 해설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43DC8B-C294-4998-B83C-FCE522E019DC}"/>
              </a:ext>
            </a:extLst>
          </p:cNvPr>
          <p:cNvSpPr txBox="1"/>
          <p:nvPr/>
        </p:nvSpPr>
        <p:spPr>
          <a:xfrm>
            <a:off x="508000" y="5588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실패나 크래시 때만 사용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사과하지 말고 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정지 화면으로 대신 설명드리겠습니다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한마디로 전환할 것</a:t>
            </a:r>
            <a:r>
              <a:rPr lang="en-US" altLang="ko-KR" sz="1300">
                <a:solidFill>
                  <a:srgbClr val="93A2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93A2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7066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64E8D8A1-6754-45D0-BC80-F1DAB8D13B7B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A96B1-8621-4BA4-8AC1-B52AB602986D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 질문 ①  정체성 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</a:t>
            </a:r>
            <a:endParaRPr lang="ko-KR" altLang="en-US" sz="3300" b="1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60862DF-5F46-4D87-8CE0-3BBEC1755C4A}"/>
              </a:ext>
            </a:extLst>
          </p:cNvPr>
          <p:cNvSpPr/>
          <p:nvPr/>
        </p:nvSpPr>
        <p:spPr>
          <a:xfrm>
            <a:off x="508000" y="1371600"/>
            <a:ext cx="11176000" cy="193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D963C845-40FE-4CB4-8B6B-30DCCFB34F87}"/>
              </a:ext>
            </a:extLst>
          </p:cNvPr>
          <p:cNvSpPr/>
          <p:nvPr/>
        </p:nvSpPr>
        <p:spPr>
          <a:xfrm>
            <a:off x="812800" y="17018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DE07D-3AED-47DA-8F81-38AB2CAB7A56}"/>
              </a:ext>
            </a:extLst>
          </p:cNvPr>
          <p:cNvSpPr txBox="1"/>
          <p:nvPr/>
        </p:nvSpPr>
        <p:spPr>
          <a:xfrm>
            <a:off x="1117600" y="16002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 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컨트롤러를 쓰면 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비착용형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맞나요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0D151-70E8-4F42-AE1F-B68A4E7DD381}"/>
              </a:ext>
            </a:extLst>
          </p:cNvPr>
          <p:cNvSpPr txBox="1"/>
          <p:nvPr/>
        </p:nvSpPr>
        <p:spPr>
          <a:xfrm>
            <a:off x="812800" y="21082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헤드셋은 쓰지 않습니다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HTC Vive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헤드셋만이 아니라 추적 시스템 전체이고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베이스 스테이션은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HMD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없이도 컨트롤러와 트래커를 추적할 수 있습니다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(null-driver, LBE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업계 표준 방식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화면은 바닥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공간 투사로 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추적 시스템만 빌려 쓰고 착용은 하지 않는 구성입니다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7F5C9F1-CC7B-4E10-890B-103D63742991}"/>
              </a:ext>
            </a:extLst>
          </p:cNvPr>
          <p:cNvSpPr/>
          <p:nvPr/>
        </p:nvSpPr>
        <p:spPr>
          <a:xfrm>
            <a:off x="508000" y="3505200"/>
            <a:ext cx="11176000" cy="193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BBB9061F-97CE-44B4-B145-5AA1E7506442}"/>
              </a:ext>
            </a:extLst>
          </p:cNvPr>
          <p:cNvSpPr/>
          <p:nvPr/>
        </p:nvSpPr>
        <p:spPr>
          <a:xfrm>
            <a:off x="812800" y="38354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8BBCF-C68A-461B-9AF0-34E81D9F802F}"/>
              </a:ext>
            </a:extLst>
          </p:cNvPr>
          <p:cNvSpPr txBox="1"/>
          <p:nvPr/>
        </p:nvSpPr>
        <p:spPr>
          <a:xfrm>
            <a:off x="1117600" y="37338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지어낸 조언 아닌가요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1F95D-6EE6-4B60-BC13-1D1F57BDC6A9}"/>
              </a:ext>
            </a:extLst>
          </p:cNvPr>
          <p:cNvSpPr txBox="1"/>
          <p:nvPr/>
        </p:nvSpPr>
        <p:spPr>
          <a:xfrm>
            <a:off x="812800" y="42418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약점 판별은 임계값 비교라 결정론적입니다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프롬프트에는 근거 숫자를 그대로 넣고 새 수치를 만들지 말라고 제약합니다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실제로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키를 지운 상태에서도 약점 리포트와 추천 드릴은 정상 출력됩니다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AI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표현만 담당합니다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5672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78836018-92F0-4394-BE39-1374F04EC7C1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413EF-3A7B-4532-B163-BB07417D00E6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 질문 ②  점수 </a:t>
            </a:r>
            <a:r>
              <a:rPr lang="en-US" altLang="ko-KR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70511F2-7C86-449F-BB1B-D209982E841C}"/>
              </a:ext>
            </a:extLst>
          </p:cNvPr>
          <p:cNvSpPr/>
          <p:nvPr/>
        </p:nvSpPr>
        <p:spPr>
          <a:xfrm>
            <a:off x="508000" y="1371600"/>
            <a:ext cx="11176000" cy="193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63629D15-B7F3-44E1-A755-727C11BDE069}"/>
              </a:ext>
            </a:extLst>
          </p:cNvPr>
          <p:cNvSpPr/>
          <p:nvPr/>
        </p:nvSpPr>
        <p:spPr>
          <a:xfrm>
            <a:off x="812800" y="17018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C73AE-2D18-4C7D-941F-3A19711EB6A3}"/>
              </a:ext>
            </a:extLst>
          </p:cNvPr>
          <p:cNvSpPr txBox="1"/>
          <p:nvPr/>
        </p:nvSpPr>
        <p:spPr>
          <a:xfrm>
            <a:off x="1117600" y="16002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기준의 근거는 무엇인가요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2A62B-62D3-4784-AE81-A686EE72E97B}"/>
              </a:ext>
            </a:extLst>
          </p:cNvPr>
          <p:cNvSpPr txBox="1"/>
          <p:nvPr/>
        </p:nvSpPr>
        <p:spPr>
          <a:xfrm>
            <a:off x="812800" y="21082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공식은 확정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상수는 실측 캘리브레이션 대상입니다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야구역학 논문 기반 초기값을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FScoringConfig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분리해 뒀고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보정 전에는 결과 화면에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미보정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그대로 표시됩니다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검증되지 않은 숫자를 검증된 것처럼 보이지 않게 하는 쪽을 택했습니다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3DDBC61-A183-4EAA-A7F1-A05FF6284AE7}"/>
              </a:ext>
            </a:extLst>
          </p:cNvPr>
          <p:cNvSpPr/>
          <p:nvPr/>
        </p:nvSpPr>
        <p:spPr>
          <a:xfrm>
            <a:off x="508000" y="3505200"/>
            <a:ext cx="11176000" cy="193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7FE7ED5C-EDB8-44EA-9F0E-5FCDF4BA383A}"/>
              </a:ext>
            </a:extLst>
          </p:cNvPr>
          <p:cNvSpPr/>
          <p:nvPr/>
        </p:nvSpPr>
        <p:spPr>
          <a:xfrm>
            <a:off x="812800" y="38354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1846E-D2A5-4513-9C08-E2D0387A2AFF}"/>
              </a:ext>
            </a:extLst>
          </p:cNvPr>
          <p:cNvSpPr txBox="1"/>
          <p:nvPr/>
        </p:nvSpPr>
        <p:spPr>
          <a:xfrm>
            <a:off x="1117600" y="37338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모드는 언제 되나요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E5EBC-7D89-4246-A761-C4511E9C4D78}"/>
              </a:ext>
            </a:extLst>
          </p:cNvPr>
          <p:cNvSpPr txBox="1"/>
          <p:nvPr/>
        </p:nvSpPr>
        <p:spPr>
          <a:xfrm>
            <a:off x="812800" y="42418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신체 인식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반응속도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베이스 러닝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기능성 피트니스는 전부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LiDAR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전신 입력에 의존합니다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추상 인터페이스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(UMotionInputProvider)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Mock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구현까지 완료했고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뉴작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LiDAR SDK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사양을 확인하는 대로 실장합니다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 막혀 있는 것은 코드가 아니라 장비 사양입니다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215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다이아몬드 1">
            <a:extLst>
              <a:ext uri="{FF2B5EF4-FFF2-40B4-BE49-F238E27FC236}">
                <a16:creationId xmlns:a16="http://schemas.microsoft.com/office/drawing/2014/main" id="{81BA1D95-5F16-48FC-8F06-09F61F5F01CD}"/>
              </a:ext>
            </a:extLst>
          </p:cNvPr>
          <p:cNvSpPr/>
          <p:nvPr/>
        </p:nvSpPr>
        <p:spPr>
          <a:xfrm>
            <a:off x="508000" y="5715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9BFFB-3887-4133-A126-DC1A11268650}"/>
              </a:ext>
            </a:extLst>
          </p:cNvPr>
          <p:cNvSpPr txBox="1"/>
          <p:nvPr/>
        </p:nvSpPr>
        <p:spPr>
          <a:xfrm>
            <a:off x="7874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3300" b="1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 질문 ③  개발 방식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010B8C7-3088-4833-ADD7-F8FC961DDB10}"/>
              </a:ext>
            </a:extLst>
          </p:cNvPr>
          <p:cNvSpPr/>
          <p:nvPr/>
        </p:nvSpPr>
        <p:spPr>
          <a:xfrm>
            <a:off x="508000" y="1371600"/>
            <a:ext cx="11176000" cy="193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C1A92FDF-A2C9-4BB1-9B49-3F60E3B296B5}"/>
              </a:ext>
            </a:extLst>
          </p:cNvPr>
          <p:cNvSpPr/>
          <p:nvPr/>
        </p:nvSpPr>
        <p:spPr>
          <a:xfrm>
            <a:off x="812800" y="17018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C0123-D10C-4492-9BFF-D8EC516BA42A}"/>
              </a:ext>
            </a:extLst>
          </p:cNvPr>
          <p:cNvSpPr txBox="1"/>
          <p:nvPr/>
        </p:nvSpPr>
        <p:spPr>
          <a:xfrm>
            <a:off x="1117600" y="16002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LiDAR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 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Vive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 없이 어떻게 개발했나요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E8A3C-E318-458D-A61E-2A54F90A362B}"/>
              </a:ext>
            </a:extLst>
          </p:cNvPr>
          <p:cNvSpPr txBox="1"/>
          <p:nvPr/>
        </p:nvSpPr>
        <p:spPr>
          <a:xfrm>
            <a:off x="812800" y="21082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계층을 순수 함수로 유지해서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Mock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입력으로 로직을 먼저 검증했습니다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수급이 늦어져도 개발이 멈추지 않았고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버그와 연출 버그를 분리해서 잡을 수 있었습니다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선택이 없었으면 지금 보여드린 분량이 나오지 않았습니다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F94310-6A2F-4381-9B9C-1525A4DE05A1}"/>
              </a:ext>
            </a:extLst>
          </p:cNvPr>
          <p:cNvSpPr/>
          <p:nvPr/>
        </p:nvSpPr>
        <p:spPr>
          <a:xfrm>
            <a:off x="508000" y="3505200"/>
            <a:ext cx="11176000" cy="1930400"/>
          </a:xfrm>
          <a:prstGeom prst="roundRect">
            <a:avLst>
              <a:gd name="adj" fmla="val 6000"/>
            </a:avLst>
          </a:prstGeom>
          <a:solidFill>
            <a:srgbClr val="182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1A919EFB-7E70-4618-95D6-6DC5CD6A565F}"/>
              </a:ext>
            </a:extLst>
          </p:cNvPr>
          <p:cNvSpPr/>
          <p:nvPr/>
        </p:nvSpPr>
        <p:spPr>
          <a:xfrm>
            <a:off x="812800" y="3835400"/>
            <a:ext cx="139700" cy="139700"/>
          </a:xfrm>
          <a:prstGeom prst="diamond">
            <a:avLst/>
          </a:prstGeom>
          <a:solidFill>
            <a:srgbClr val="E8B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3F84B-60FF-4C63-B5C0-C592A24B3BB5}"/>
              </a:ext>
            </a:extLst>
          </p:cNvPr>
          <p:cNvSpPr txBox="1"/>
          <p:nvPr/>
        </p:nvSpPr>
        <p:spPr>
          <a:xfrm>
            <a:off x="1117600" y="37338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인이 어떻게 이 규모를 만들었나요</a:t>
            </a:r>
            <a:r>
              <a:rPr lang="en-US" altLang="ko-KR" sz="1700" b="1">
                <a:solidFill>
                  <a:srgbClr val="E8B23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E8B23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F89F5-7A46-418F-B2BE-B5398CAF0FC7}"/>
              </a:ext>
            </a:extLst>
          </p:cNvPr>
          <p:cNvSpPr txBox="1"/>
          <p:nvPr/>
        </p:nvSpPr>
        <p:spPr>
          <a:xfrm>
            <a:off x="812800" y="42418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계층 경계를 그대로 작업 분할선으로 썼습니다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타격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·AI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수비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인터페이스로 브랜치를 나눠 병렬 개발했고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 구조체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(FSwingSample · FScoreResult)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 먼저 고정해서 충돌을 줄였습니다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C++ 82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16,235</a:t>
            </a:r>
            <a:r>
              <a:rPr lang="ko-KR" altLang="en-US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규모입니다</a:t>
            </a:r>
            <a:r>
              <a:rPr lang="en-US" altLang="ko-KR" sz="1400">
                <a:solidFill>
                  <a:srgbClr val="F2F5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F2F5F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36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3397</Words>
  <Application>Microsoft Office PowerPoint</Application>
  <PresentationFormat>사용자 지정</PresentationFormat>
  <Paragraphs>377</Paragraphs>
  <Slides>15</Slides>
  <Notes>15</Notes>
  <HiddenSlides>4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2026-09-04T05:08:43Z</dcterms:created>
  <dcterms:modified xsi:type="dcterms:W3CDTF">2026-09-04T05:08:43Z</dcterms:modified>
</cp:coreProperties>
</file>